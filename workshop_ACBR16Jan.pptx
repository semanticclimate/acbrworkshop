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rimo Bold" panose="020B0604020202020204" charset="0"/>
      <p:regular r:id="rId23"/>
    </p:embeddedFont>
    <p:embeddedFont>
      <p:font typeface="Calibri (MS)" panose="020B0604020202020204" charset="0"/>
      <p:regular r:id="rId24"/>
    </p:embeddedFont>
    <p:embeddedFont>
      <p:font typeface="Calibri (MS) Bold" panose="020B0604020202020204" charset="0"/>
      <p:regular r:id="rId25"/>
    </p:embeddedFont>
    <p:embeddedFont>
      <p:font typeface="Calibri (MS) Bold Italics" panose="020B0604020202020204" charset="0"/>
      <p:regular r:id="rId26"/>
    </p:embeddedFont>
    <p:embeddedFont>
      <p:font typeface="Canva Sans" panose="020B0604020202020204" charset="0"/>
      <p:regular r:id="rId27"/>
    </p:embeddedFont>
    <p:embeddedFont>
      <p:font typeface="Canva Sans Bold" panose="020B0604020202020204" charset="0"/>
      <p:regular r:id="rId28"/>
    </p:embeddedFont>
    <p:embeddedFont>
      <p:font typeface="Canva Sans Bold Italics" panose="020B0604020202020204" charset="0"/>
      <p:regular r:id="rId29"/>
    </p:embeddedFont>
    <p:embeddedFont>
      <p:font typeface="Clear Sans" panose="020B0604020202020204" charset="0"/>
      <p:regular r:id="rId30"/>
    </p:embeddedFont>
    <p:embeddedFont>
      <p:font typeface="Clear Sans Bold" panose="020B0604020202020204" charset="0"/>
      <p:regular r:id="rId31"/>
    </p:embeddedFont>
    <p:embeddedFont>
      <p:font typeface="Comic Sans" panose="020B0604020202020204" charset="0"/>
      <p:regular r:id="rId32"/>
    </p:embeddedFont>
    <p:embeddedFont>
      <p:font typeface="Comic Sans Bold" panose="020B0604020202020204" charset="0"/>
      <p:regular r:id="rId33"/>
    </p:embeddedFont>
    <p:embeddedFont>
      <p:font typeface="EB Garamond Semi-Bold" panose="020B0604020202020204" charset="0"/>
      <p:regular r:id="rId34"/>
    </p:embeddedFont>
    <p:embeddedFont>
      <p:font typeface="EB Garamond Semi-Bold Italics" panose="020B0604020202020204" charset="0"/>
      <p:regular r:id="rId35"/>
    </p:embeddedFont>
    <p:embeddedFont>
      <p:font typeface="Garet" panose="020B0604020202020204" charset="0"/>
      <p:regular r:id="rId36"/>
    </p:embeddedFont>
    <p:embeddedFont>
      <p:font typeface="Garet Bold" panose="020B0604020202020204" charset="0"/>
      <p:regular r:id="rId37"/>
    </p:embeddedFont>
    <p:embeddedFont>
      <p:font typeface="Montserrat Bold" panose="020B0604020202020204" charset="0"/>
      <p:regular r:id="rId38"/>
    </p:embeddedFont>
    <p:embeddedFont>
      <p:font typeface="Playfair Display Bold" panose="020B0604020202020204" charset="0"/>
      <p:regular r:id="rId39"/>
    </p:embeddedFont>
    <p:embeddedFont>
      <p:font typeface="Poppins Bold" panose="020B0604020202020204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96" y="3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14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emanticclimate.github.io/p/en/" TargetMode="External"/><Relationship Id="rId5" Type="http://schemas.openxmlformats.org/officeDocument/2006/relationships/image" Target="../media/image8.png"/><Relationship Id="rId10" Type="http://schemas.openxmlformats.org/officeDocument/2006/relationships/image" Target="../media/image19.jpe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sv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35.svg"/><Relationship Id="rId21" Type="http://schemas.openxmlformats.org/officeDocument/2006/relationships/image" Target="../media/image53.png"/><Relationship Id="rId7" Type="http://schemas.openxmlformats.org/officeDocument/2006/relationships/image" Target="../media/image39.svg"/><Relationship Id="rId12" Type="http://schemas.openxmlformats.org/officeDocument/2006/relationships/image" Target="../media/image44.png"/><Relationship Id="rId17" Type="http://schemas.openxmlformats.org/officeDocument/2006/relationships/image" Target="../media/image49.svg"/><Relationship Id="rId25" Type="http://schemas.openxmlformats.org/officeDocument/2006/relationships/image" Target="../media/image57.sv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29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24" Type="http://schemas.openxmlformats.org/officeDocument/2006/relationships/image" Target="../media/image56.png"/><Relationship Id="rId5" Type="http://schemas.openxmlformats.org/officeDocument/2006/relationships/image" Target="../media/image37.svg"/><Relationship Id="rId15" Type="http://schemas.openxmlformats.org/officeDocument/2006/relationships/image" Target="../media/image47.svg"/><Relationship Id="rId23" Type="http://schemas.openxmlformats.org/officeDocument/2006/relationships/image" Target="../media/image55.png"/><Relationship Id="rId28" Type="http://schemas.openxmlformats.org/officeDocument/2006/relationships/image" Target="../media/image31.png"/><Relationship Id="rId10" Type="http://schemas.openxmlformats.org/officeDocument/2006/relationships/image" Target="../media/image42.png"/><Relationship Id="rId19" Type="http://schemas.openxmlformats.org/officeDocument/2006/relationships/image" Target="../media/image51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Relationship Id="rId14" Type="http://schemas.openxmlformats.org/officeDocument/2006/relationships/image" Target="../media/image46.png"/><Relationship Id="rId22" Type="http://schemas.openxmlformats.org/officeDocument/2006/relationships/image" Target="../media/image54.svg"/><Relationship Id="rId27" Type="http://schemas.openxmlformats.org/officeDocument/2006/relationships/image" Target="../media/image5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sv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sv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petermr/amilib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petermr/docanalysis" TargetMode="External"/><Relationship Id="rId5" Type="http://schemas.openxmlformats.org/officeDocument/2006/relationships/hyperlink" Target="https://github.com/petermr/tigr2ess/blob/master/getpapers/TUTORIAL.md#cproject-and-ctrees" TargetMode="External"/><Relationship Id="rId4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svg"/><Relationship Id="rId3" Type="http://schemas.openxmlformats.org/officeDocument/2006/relationships/image" Target="../media/image78.svg"/><Relationship Id="rId7" Type="http://schemas.openxmlformats.org/officeDocument/2006/relationships/image" Target="../media/image82.svg"/><Relationship Id="rId12" Type="http://schemas.openxmlformats.org/officeDocument/2006/relationships/image" Target="../media/image8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6.svg"/><Relationship Id="rId5" Type="http://schemas.openxmlformats.org/officeDocument/2006/relationships/image" Target="../media/image80.sv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sv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98.svg"/><Relationship Id="rId5" Type="http://schemas.openxmlformats.org/officeDocument/2006/relationships/image" Target="../media/image92.sv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2.svg"/><Relationship Id="rId7" Type="http://schemas.openxmlformats.org/officeDocument/2006/relationships/image" Target="../media/image10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4.png"/><Relationship Id="rId4" Type="http://schemas.openxmlformats.org/officeDocument/2006/relationships/image" Target="../media/image10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10" Type="http://schemas.openxmlformats.org/officeDocument/2006/relationships/image" Target="../media/image114.svg"/><Relationship Id="rId4" Type="http://schemas.openxmlformats.org/officeDocument/2006/relationships/image" Target="../media/image109.svg"/><Relationship Id="rId9" Type="http://schemas.openxmlformats.org/officeDocument/2006/relationships/image" Target="../media/image1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17.svg"/><Relationship Id="rId4" Type="http://schemas.openxmlformats.org/officeDocument/2006/relationships/image" Target="../media/image1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18.jpeg"/><Relationship Id="rId7" Type="http://schemas.openxmlformats.org/officeDocument/2006/relationships/image" Target="../media/image12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2.svg"/><Relationship Id="rId7" Type="http://schemas.openxmlformats.org/officeDocument/2006/relationships/image" Target="../media/image10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11" Type="http://schemas.openxmlformats.org/officeDocument/2006/relationships/hyperlink" Target="https://colab.research.google.com/drive/1acnaYZ-aAhNYiRDK0pGfMCLCpvNPjoAb?usp=sharing" TargetMode="External"/><Relationship Id="rId5" Type="http://schemas.openxmlformats.org/officeDocument/2006/relationships/image" Target="../media/image4.svg"/><Relationship Id="rId10" Type="http://schemas.openxmlformats.org/officeDocument/2006/relationships/image" Target="../media/image124.png"/><Relationship Id="rId4" Type="http://schemas.openxmlformats.org/officeDocument/2006/relationships/image" Target="../media/image3.png"/><Relationship Id="rId9" Type="http://schemas.openxmlformats.org/officeDocument/2006/relationships/image" Target="../media/image1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hyperlink" Target="https://github.com/semanticClimate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126.png"/><Relationship Id="rId12" Type="http://schemas.openxmlformats.org/officeDocument/2006/relationships/hyperlink" Target="https://semanticclimate.github.io/p/en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hyperlink" Target="https://twitter.com/semanticClimate" TargetMode="External"/><Relationship Id="rId5" Type="http://schemas.openxmlformats.org/officeDocument/2006/relationships/image" Target="../media/image125.png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1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79019" y="0"/>
            <a:ext cx="4264059" cy="10287000"/>
            <a:chOff x="0" y="0"/>
            <a:chExt cx="112304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3044" cy="2709333"/>
            </a:xfrm>
            <a:custGeom>
              <a:avLst/>
              <a:gdLst/>
              <a:ahLst/>
              <a:cxnLst/>
              <a:rect l="l" t="t" r="r" b="b"/>
              <a:pathLst>
                <a:path w="1123044" h="2709333">
                  <a:moveTo>
                    <a:pt x="92597" y="0"/>
                  </a:moveTo>
                  <a:lnTo>
                    <a:pt x="1030448" y="0"/>
                  </a:lnTo>
                  <a:cubicBezTo>
                    <a:pt x="1081587" y="0"/>
                    <a:pt x="1123044" y="41457"/>
                    <a:pt x="1123044" y="92597"/>
                  </a:cubicBezTo>
                  <a:lnTo>
                    <a:pt x="1123044" y="2616737"/>
                  </a:lnTo>
                  <a:cubicBezTo>
                    <a:pt x="1123044" y="2667876"/>
                    <a:pt x="1081587" y="2709333"/>
                    <a:pt x="1030448" y="2709333"/>
                  </a:cubicBezTo>
                  <a:lnTo>
                    <a:pt x="92597" y="2709333"/>
                  </a:lnTo>
                  <a:cubicBezTo>
                    <a:pt x="41457" y="2709333"/>
                    <a:pt x="0" y="2667876"/>
                    <a:pt x="0" y="2616737"/>
                  </a:cubicBezTo>
                  <a:lnTo>
                    <a:pt x="0" y="92597"/>
                  </a:lnTo>
                  <a:cubicBezTo>
                    <a:pt x="0" y="41457"/>
                    <a:pt x="41457" y="0"/>
                    <a:pt x="92597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230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78919" y="3700556"/>
            <a:ext cx="2160637" cy="2160637"/>
          </a:xfrm>
          <a:custGeom>
            <a:avLst/>
            <a:gdLst/>
            <a:ahLst/>
            <a:cxnLst/>
            <a:rect l="l" t="t" r="r" b="b"/>
            <a:pathLst>
              <a:path w="2160637" h="2160637">
                <a:moveTo>
                  <a:pt x="0" y="0"/>
                </a:moveTo>
                <a:lnTo>
                  <a:pt x="2160637" y="0"/>
                </a:lnTo>
                <a:lnTo>
                  <a:pt x="2160637" y="2160636"/>
                </a:lnTo>
                <a:lnTo>
                  <a:pt x="0" y="2160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0"/>
            <a:ext cx="3362454" cy="859376"/>
            <a:chOff x="0" y="0"/>
            <a:chExt cx="5462524" cy="13961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62524" cy="1396111"/>
            </a:xfrm>
            <a:custGeom>
              <a:avLst/>
              <a:gdLst/>
              <a:ahLst/>
              <a:cxnLst/>
              <a:rect l="l" t="t" r="r" b="b"/>
              <a:pathLst>
                <a:path w="5462524" h="1396111">
                  <a:moveTo>
                    <a:pt x="0" y="0"/>
                  </a:moveTo>
                  <a:lnTo>
                    <a:pt x="5462524" y="0"/>
                  </a:lnTo>
                  <a:lnTo>
                    <a:pt x="5462524" y="1396111"/>
                  </a:lnTo>
                  <a:lnTo>
                    <a:pt x="0" y="1396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283" b="-6283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40894" y="3394748"/>
            <a:ext cx="5993282" cy="754266"/>
            <a:chOff x="0" y="0"/>
            <a:chExt cx="7991043" cy="10056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90466" cy="978700"/>
            </a:xfrm>
            <a:custGeom>
              <a:avLst/>
              <a:gdLst/>
              <a:ahLst/>
              <a:cxnLst/>
              <a:rect l="l" t="t" r="r" b="b"/>
              <a:pathLst>
                <a:path w="4290466" h="978700">
                  <a:moveTo>
                    <a:pt x="0" y="0"/>
                  </a:moveTo>
                  <a:lnTo>
                    <a:pt x="4290466" y="0"/>
                  </a:lnTo>
                  <a:lnTo>
                    <a:pt x="4290466" y="978700"/>
                  </a:lnTo>
                  <a:lnTo>
                    <a:pt x="0" y="97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582" b="-582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3700577" y="26987"/>
              <a:ext cx="4290466" cy="978700"/>
            </a:xfrm>
            <a:custGeom>
              <a:avLst/>
              <a:gdLst/>
              <a:ahLst/>
              <a:cxnLst/>
              <a:rect l="l" t="t" r="r" b="b"/>
              <a:pathLst>
                <a:path w="4290466" h="978700">
                  <a:moveTo>
                    <a:pt x="0" y="0"/>
                  </a:moveTo>
                  <a:lnTo>
                    <a:pt x="4290466" y="0"/>
                  </a:lnTo>
                  <a:lnTo>
                    <a:pt x="4290466" y="978701"/>
                  </a:lnTo>
                  <a:lnTo>
                    <a:pt x="0" y="978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582" b="-5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365938" y="-71438"/>
              <a:ext cx="7101256" cy="943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10"/>
                </a:lnSpc>
              </a:pPr>
              <a:r>
                <a:rPr lang="en-US" sz="3579" b="1" spc="127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Learning  by Doing!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039556" y="8064151"/>
            <a:ext cx="2222849" cy="2222849"/>
            <a:chOff x="0" y="0"/>
            <a:chExt cx="2963799" cy="29637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63799" cy="2963799"/>
            </a:xfrm>
            <a:custGeom>
              <a:avLst/>
              <a:gdLst/>
              <a:ahLst/>
              <a:cxnLst/>
              <a:rect l="l" t="t" r="r" b="b"/>
              <a:pathLst>
                <a:path w="2963799" h="2963799">
                  <a:moveTo>
                    <a:pt x="0" y="0"/>
                  </a:moveTo>
                  <a:lnTo>
                    <a:pt x="2963799" y="0"/>
                  </a:lnTo>
                  <a:lnTo>
                    <a:pt x="2963799" y="2963799"/>
                  </a:lnTo>
                  <a:lnTo>
                    <a:pt x="0" y="296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12428793" y="61952"/>
            <a:ext cx="2250041" cy="837515"/>
          </a:xfrm>
          <a:custGeom>
            <a:avLst/>
            <a:gdLst/>
            <a:ahLst/>
            <a:cxnLst/>
            <a:rect l="l" t="t" r="r" b="b"/>
            <a:pathLst>
              <a:path w="2250041" h="837515">
                <a:moveTo>
                  <a:pt x="0" y="0"/>
                </a:moveTo>
                <a:lnTo>
                  <a:pt x="2250041" y="0"/>
                </a:lnTo>
                <a:lnTo>
                  <a:pt x="2250041" y="837515"/>
                </a:lnTo>
                <a:lnTo>
                  <a:pt x="0" y="8375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836132" y="0"/>
            <a:ext cx="1242244" cy="1658460"/>
          </a:xfrm>
          <a:custGeom>
            <a:avLst/>
            <a:gdLst/>
            <a:ahLst/>
            <a:cxnLst/>
            <a:rect l="l" t="t" r="r" b="b"/>
            <a:pathLst>
              <a:path w="1242244" h="1658460">
                <a:moveTo>
                  <a:pt x="0" y="0"/>
                </a:moveTo>
                <a:lnTo>
                  <a:pt x="1242244" y="0"/>
                </a:lnTo>
                <a:lnTo>
                  <a:pt x="1242244" y="1658460"/>
                </a:lnTo>
                <a:lnTo>
                  <a:pt x="0" y="16584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3995741" y="5971740"/>
            <a:ext cx="5543850" cy="4083970"/>
            <a:chOff x="0" y="0"/>
            <a:chExt cx="7620000" cy="5613400"/>
          </a:xfrm>
        </p:grpSpPr>
        <p:sp>
          <p:nvSpPr>
            <p:cNvPr id="18" name="Freeform 18"/>
            <p:cNvSpPr/>
            <p:nvPr/>
          </p:nvSpPr>
          <p:spPr>
            <a:xfrm>
              <a:off x="837" y="-1270"/>
              <a:ext cx="7619115" cy="5614063"/>
            </a:xfrm>
            <a:custGeom>
              <a:avLst/>
              <a:gdLst/>
              <a:ahLst/>
              <a:cxnLst/>
              <a:rect l="l" t="t" r="r" b="b"/>
              <a:pathLst>
                <a:path w="7619115" h="5614063">
                  <a:moveTo>
                    <a:pt x="7607733" y="3288030"/>
                  </a:moveTo>
                  <a:cubicBezTo>
                    <a:pt x="7605193" y="3305810"/>
                    <a:pt x="7601383" y="3323590"/>
                    <a:pt x="7597573" y="3341370"/>
                  </a:cubicBezTo>
                  <a:cubicBezTo>
                    <a:pt x="7598843" y="3395980"/>
                    <a:pt x="7595033" y="3451860"/>
                    <a:pt x="7586143" y="3507740"/>
                  </a:cubicBezTo>
                  <a:cubicBezTo>
                    <a:pt x="7503593" y="4042410"/>
                    <a:pt x="7003212" y="4409440"/>
                    <a:pt x="6468543" y="4326890"/>
                  </a:cubicBezTo>
                  <a:cubicBezTo>
                    <a:pt x="6325033" y="4305300"/>
                    <a:pt x="6194222" y="4253230"/>
                    <a:pt x="6081193" y="4178300"/>
                  </a:cubicBezTo>
                  <a:cubicBezTo>
                    <a:pt x="5872913" y="4420870"/>
                    <a:pt x="5549063" y="4554220"/>
                    <a:pt x="5209972" y="4502150"/>
                  </a:cubicBezTo>
                  <a:cubicBezTo>
                    <a:pt x="5105832" y="4485640"/>
                    <a:pt x="5008043" y="4453890"/>
                    <a:pt x="4920413" y="4408170"/>
                  </a:cubicBezTo>
                  <a:cubicBezTo>
                    <a:pt x="4719753" y="4759960"/>
                    <a:pt x="4381933" y="5013960"/>
                    <a:pt x="3989502" y="5110480"/>
                  </a:cubicBezTo>
                  <a:cubicBezTo>
                    <a:pt x="3691052" y="5629910"/>
                    <a:pt x="2976042" y="5671820"/>
                    <a:pt x="2451532" y="5568950"/>
                  </a:cubicBezTo>
                  <a:cubicBezTo>
                    <a:pt x="2588692" y="5523230"/>
                    <a:pt x="2744902" y="5490210"/>
                    <a:pt x="2889682" y="5450840"/>
                  </a:cubicBezTo>
                  <a:cubicBezTo>
                    <a:pt x="3058592" y="5368290"/>
                    <a:pt x="3190672" y="5253990"/>
                    <a:pt x="3285922" y="5109210"/>
                  </a:cubicBezTo>
                  <a:cubicBezTo>
                    <a:pt x="3080182" y="5058410"/>
                    <a:pt x="2893493" y="4965700"/>
                    <a:pt x="2733472" y="4842510"/>
                  </a:cubicBezTo>
                  <a:cubicBezTo>
                    <a:pt x="2461693" y="4997450"/>
                    <a:pt x="2137843" y="5066030"/>
                    <a:pt x="1803832" y="5015230"/>
                  </a:cubicBezTo>
                  <a:cubicBezTo>
                    <a:pt x="1102793" y="4907280"/>
                    <a:pt x="599872" y="4310380"/>
                    <a:pt x="588443" y="3624580"/>
                  </a:cubicBezTo>
                  <a:cubicBezTo>
                    <a:pt x="579553" y="3576320"/>
                    <a:pt x="573203" y="3526790"/>
                    <a:pt x="570663" y="3477260"/>
                  </a:cubicBezTo>
                  <a:cubicBezTo>
                    <a:pt x="232843" y="3277870"/>
                    <a:pt x="16943" y="2910840"/>
                    <a:pt x="20753" y="2508250"/>
                  </a:cubicBezTo>
                  <a:cubicBezTo>
                    <a:pt x="-3377" y="2381250"/>
                    <a:pt x="-7187" y="2250440"/>
                    <a:pt x="13133" y="2118360"/>
                  </a:cubicBezTo>
                  <a:cubicBezTo>
                    <a:pt x="55043" y="1847850"/>
                    <a:pt x="192203" y="1601470"/>
                    <a:pt x="400483" y="1424940"/>
                  </a:cubicBezTo>
                  <a:cubicBezTo>
                    <a:pt x="606223" y="1249680"/>
                    <a:pt x="867843" y="1153160"/>
                    <a:pt x="1137083" y="1153160"/>
                  </a:cubicBezTo>
                  <a:cubicBezTo>
                    <a:pt x="1195503" y="1153160"/>
                    <a:pt x="1253923" y="1158240"/>
                    <a:pt x="1311073" y="1167130"/>
                  </a:cubicBezTo>
                  <a:cubicBezTo>
                    <a:pt x="1323773" y="1168400"/>
                    <a:pt x="1336473" y="1170940"/>
                    <a:pt x="1350443" y="1173480"/>
                  </a:cubicBezTo>
                  <a:cubicBezTo>
                    <a:pt x="1452043" y="720090"/>
                    <a:pt x="1859713" y="392430"/>
                    <a:pt x="2325803" y="392430"/>
                  </a:cubicBezTo>
                  <a:cubicBezTo>
                    <a:pt x="2376603" y="392430"/>
                    <a:pt x="2428673" y="396240"/>
                    <a:pt x="2479473" y="403860"/>
                  </a:cubicBezTo>
                  <a:cubicBezTo>
                    <a:pt x="2686483" y="435610"/>
                    <a:pt x="2873173" y="528320"/>
                    <a:pt x="3023033" y="673100"/>
                  </a:cubicBezTo>
                  <a:cubicBezTo>
                    <a:pt x="3288463" y="256540"/>
                    <a:pt x="3755823" y="0"/>
                    <a:pt x="4249853" y="0"/>
                  </a:cubicBezTo>
                  <a:cubicBezTo>
                    <a:pt x="4323513" y="0"/>
                    <a:pt x="4399713" y="6350"/>
                    <a:pt x="4473373" y="16510"/>
                  </a:cubicBezTo>
                  <a:cubicBezTo>
                    <a:pt x="5071543" y="107950"/>
                    <a:pt x="5551603" y="563880"/>
                    <a:pt x="5676063" y="1153160"/>
                  </a:cubicBezTo>
                  <a:cubicBezTo>
                    <a:pt x="5838623" y="1046480"/>
                    <a:pt x="6026583" y="990600"/>
                    <a:pt x="6220893" y="990600"/>
                  </a:cubicBezTo>
                  <a:cubicBezTo>
                    <a:pt x="6271693" y="990600"/>
                    <a:pt x="6323763" y="994410"/>
                    <a:pt x="6374563" y="1002030"/>
                  </a:cubicBezTo>
                  <a:cubicBezTo>
                    <a:pt x="6638723" y="1042670"/>
                    <a:pt x="6871133" y="1183640"/>
                    <a:pt x="7029883" y="1399540"/>
                  </a:cubicBezTo>
                  <a:cubicBezTo>
                    <a:pt x="7188633" y="1615440"/>
                    <a:pt x="7252133" y="1879600"/>
                    <a:pt x="7211493" y="2143760"/>
                  </a:cubicBezTo>
                  <a:cubicBezTo>
                    <a:pt x="7208952" y="2161540"/>
                    <a:pt x="7205143" y="2180590"/>
                    <a:pt x="7201333" y="2198370"/>
                  </a:cubicBezTo>
                  <a:cubicBezTo>
                    <a:pt x="7201333" y="2236470"/>
                    <a:pt x="7200063" y="2275840"/>
                    <a:pt x="7196252" y="2313940"/>
                  </a:cubicBezTo>
                  <a:cubicBezTo>
                    <a:pt x="7503593" y="2534920"/>
                    <a:pt x="7664883" y="2912110"/>
                    <a:pt x="7607733" y="328803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22570" y="60702"/>
              <a:ext cx="7576009" cy="5517134"/>
            </a:xfrm>
            <a:custGeom>
              <a:avLst/>
              <a:gdLst/>
              <a:ahLst/>
              <a:cxnLst/>
              <a:rect l="l" t="t" r="r" b="b"/>
              <a:pathLst>
                <a:path w="7576009" h="5517134">
                  <a:moveTo>
                    <a:pt x="7124990" y="2287528"/>
                  </a:moveTo>
                  <a:cubicBezTo>
                    <a:pt x="7142770" y="2234188"/>
                    <a:pt x="7156740" y="2178308"/>
                    <a:pt x="7165630" y="2119888"/>
                  </a:cubicBezTo>
                  <a:cubicBezTo>
                    <a:pt x="7248180" y="1585218"/>
                    <a:pt x="6881150" y="1084838"/>
                    <a:pt x="6346480" y="1002288"/>
                  </a:cubicBezTo>
                  <a:cubicBezTo>
                    <a:pt x="6087400" y="962918"/>
                    <a:pt x="5835940" y="1028958"/>
                    <a:pt x="5636550" y="1167388"/>
                  </a:cubicBezTo>
                  <a:cubicBezTo>
                    <a:pt x="5527330" y="586998"/>
                    <a:pt x="5063780" y="112018"/>
                    <a:pt x="4445290" y="16768"/>
                  </a:cubicBezTo>
                  <a:cubicBezTo>
                    <a:pt x="3856010" y="-73402"/>
                    <a:pt x="3295940" y="207268"/>
                    <a:pt x="3002570" y="686058"/>
                  </a:cubicBezTo>
                  <a:cubicBezTo>
                    <a:pt x="2860330" y="540008"/>
                    <a:pt x="2671100" y="437138"/>
                    <a:pt x="2453930" y="404118"/>
                  </a:cubicBezTo>
                  <a:cubicBezTo>
                    <a:pt x="1934500" y="324108"/>
                    <a:pt x="1448090" y="667008"/>
                    <a:pt x="1345220" y="1176278"/>
                  </a:cubicBezTo>
                  <a:cubicBezTo>
                    <a:pt x="1326170" y="1172468"/>
                    <a:pt x="1305850" y="1168658"/>
                    <a:pt x="1285530" y="1164848"/>
                  </a:cubicBezTo>
                  <a:cubicBezTo>
                    <a:pt x="675930" y="1070868"/>
                    <a:pt x="106970" y="1488698"/>
                    <a:pt x="12990" y="2098298"/>
                  </a:cubicBezTo>
                  <a:cubicBezTo>
                    <a:pt x="-59400" y="2572008"/>
                    <a:pt x="176820" y="3021588"/>
                    <a:pt x="570520" y="3242568"/>
                  </a:cubicBezTo>
                  <a:cubicBezTo>
                    <a:pt x="514640" y="3982978"/>
                    <a:pt x="1036610" y="4653538"/>
                    <a:pt x="1782100" y="4767838"/>
                  </a:cubicBezTo>
                  <a:cubicBezTo>
                    <a:pt x="2116110" y="4818638"/>
                    <a:pt x="2439960" y="4751328"/>
                    <a:pt x="2711740" y="4595118"/>
                  </a:cubicBezTo>
                  <a:cubicBezTo>
                    <a:pt x="2902240" y="4742438"/>
                    <a:pt x="3130840" y="4846578"/>
                    <a:pt x="3386110" y="4887218"/>
                  </a:cubicBezTo>
                  <a:cubicBezTo>
                    <a:pt x="3287050" y="5166618"/>
                    <a:pt x="3081310" y="5391408"/>
                    <a:pt x="2715550" y="5513328"/>
                  </a:cubicBezTo>
                  <a:cubicBezTo>
                    <a:pt x="3102900" y="5545078"/>
                    <a:pt x="3670590" y="5382518"/>
                    <a:pt x="3967770" y="4863088"/>
                  </a:cubicBezTo>
                  <a:cubicBezTo>
                    <a:pt x="4360200" y="4766568"/>
                    <a:pt x="4698020" y="4512568"/>
                    <a:pt x="4898680" y="4160778"/>
                  </a:cubicBezTo>
                  <a:cubicBezTo>
                    <a:pt x="4987580" y="4206498"/>
                    <a:pt x="5084100" y="4238248"/>
                    <a:pt x="5188240" y="4254758"/>
                  </a:cubicBezTo>
                  <a:cubicBezTo>
                    <a:pt x="5527330" y="4306828"/>
                    <a:pt x="5851180" y="4173478"/>
                    <a:pt x="6059460" y="3930908"/>
                  </a:cubicBezTo>
                  <a:cubicBezTo>
                    <a:pt x="6172490" y="4005838"/>
                    <a:pt x="6304570" y="4057908"/>
                    <a:pt x="6446810" y="4079498"/>
                  </a:cubicBezTo>
                  <a:cubicBezTo>
                    <a:pt x="6981480" y="4162048"/>
                    <a:pt x="7481860" y="3795018"/>
                    <a:pt x="7564410" y="3260348"/>
                  </a:cubicBezTo>
                  <a:cubicBezTo>
                    <a:pt x="7625370" y="2866648"/>
                    <a:pt x="7441220" y="2490728"/>
                    <a:pt x="7124991" y="2287528"/>
                  </a:cubicBezTo>
                  <a:close/>
                </a:path>
              </a:pathLst>
            </a:custGeom>
            <a:blipFill>
              <a:blip r:embed="rId12"/>
              <a:stretch>
                <a:fillRect l="-17506" r="-17506"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4302487" y="68959"/>
            <a:ext cx="2183228" cy="959741"/>
          </a:xfrm>
          <a:custGeom>
            <a:avLst/>
            <a:gdLst/>
            <a:ahLst/>
            <a:cxnLst/>
            <a:rect l="l" t="t" r="r" b="b"/>
            <a:pathLst>
              <a:path w="2183228" h="959741">
                <a:moveTo>
                  <a:pt x="0" y="0"/>
                </a:moveTo>
                <a:lnTo>
                  <a:pt x="2183228" y="0"/>
                </a:lnTo>
                <a:lnTo>
                  <a:pt x="2183228" y="959741"/>
                </a:lnTo>
                <a:lnTo>
                  <a:pt x="0" y="9597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87394" y="4409770"/>
            <a:ext cx="12276705" cy="1048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8532" b="1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for Literature Review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84262" y="9425893"/>
            <a:ext cx="4679538" cy="644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829" b="1" dirty="0">
                <a:solidFill>
                  <a:srgbClr val="6325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Renu Kumari</a:t>
            </a:r>
          </a:p>
          <a:p>
            <a:pPr algn="l">
              <a:lnSpc>
                <a:spcPts val="2560"/>
              </a:lnSpc>
            </a:pPr>
            <a:r>
              <a:rPr lang="en-US" sz="1829" b="1" dirty="0">
                <a:solidFill>
                  <a:srgbClr val="6325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 Manager: #semanticClimate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0" y="9618834"/>
            <a:ext cx="3217849" cy="430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8"/>
              </a:lnSpc>
            </a:pPr>
            <a:r>
              <a:rPr lang="en-US" sz="2556" b="1" dirty="0">
                <a:solidFill>
                  <a:srgbClr val="6325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January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28687" y="64341"/>
            <a:ext cx="2743200" cy="780221"/>
            <a:chOff x="0" y="0"/>
            <a:chExt cx="3657600" cy="10402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1040257"/>
            </a:xfrm>
            <a:custGeom>
              <a:avLst/>
              <a:gdLst/>
              <a:ahLst/>
              <a:cxnLst/>
              <a:rect l="l" t="t" r="r" b="b"/>
              <a:pathLst>
                <a:path w="3657600" h="1040257">
                  <a:moveTo>
                    <a:pt x="0" y="0"/>
                  </a:moveTo>
                  <a:lnTo>
                    <a:pt x="3657600" y="0"/>
                  </a:lnTo>
                  <a:lnTo>
                    <a:pt x="3657600" y="1040257"/>
                  </a:lnTo>
                  <a:lnTo>
                    <a:pt x="0" y="1040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37" b="-54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655874" y="3920871"/>
            <a:ext cx="8255727" cy="5913168"/>
            <a:chOff x="0" y="0"/>
            <a:chExt cx="11007636" cy="78842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007598" cy="7884160"/>
            </a:xfrm>
            <a:custGeom>
              <a:avLst/>
              <a:gdLst/>
              <a:ahLst/>
              <a:cxnLst/>
              <a:rect l="l" t="t" r="r" b="b"/>
              <a:pathLst>
                <a:path w="11007598" h="7884160">
                  <a:moveTo>
                    <a:pt x="0" y="0"/>
                  </a:moveTo>
                  <a:lnTo>
                    <a:pt x="11007598" y="0"/>
                  </a:lnTo>
                  <a:lnTo>
                    <a:pt x="11007598" y="7884160"/>
                  </a:lnTo>
                  <a:lnTo>
                    <a:pt x="0" y="788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0" b="-41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058360" y="395811"/>
            <a:ext cx="9211418" cy="2124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9764" lvl="1" indent="-174882" algn="l">
              <a:lnSpc>
                <a:spcPts val="4058"/>
              </a:lnSpc>
              <a:buFont typeface="Arial"/>
              <a:buChar char="•"/>
            </a:pPr>
            <a:r>
              <a:rPr lang="en-US" sz="2899" b="1">
                <a:solidFill>
                  <a:srgbClr val="3660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 years old organization</a:t>
            </a:r>
          </a:p>
          <a:p>
            <a:pPr marL="349764" lvl="1" indent="-174882" algn="l">
              <a:lnSpc>
                <a:spcPts val="4058"/>
              </a:lnSpc>
              <a:buFont typeface="Arial"/>
              <a:buChar char="•"/>
            </a:pPr>
            <a:r>
              <a:rPr lang="en-US" sz="2899" b="1">
                <a:solidFill>
                  <a:srgbClr val="3660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are the team of interns (Online and offline).</a:t>
            </a:r>
          </a:p>
          <a:p>
            <a:pPr marL="349764" lvl="1" indent="-174882" algn="l">
              <a:lnSpc>
                <a:spcPts val="4058"/>
              </a:lnSpc>
              <a:buFont typeface="Arial"/>
              <a:buChar char="•"/>
            </a:pPr>
            <a:r>
              <a:rPr lang="en-US" sz="2899" b="1">
                <a:solidFill>
                  <a:srgbClr val="3660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 by creating, distributing and using software.</a:t>
            </a: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10600" y="2829058"/>
            <a:ext cx="9211418" cy="105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7"/>
              </a:lnSpc>
            </a:pPr>
            <a:r>
              <a:rPr lang="en-US" sz="5440" b="1">
                <a:solidFill>
                  <a:srgbClr val="621344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Youth Knowledge Champions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240" y="3975078"/>
            <a:ext cx="6370320" cy="1099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It's committed to making public knowledge available in a frictionless form for everybody.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5903" y="3934044"/>
            <a:ext cx="482603" cy="410404"/>
            <a:chOff x="0" y="0"/>
            <a:chExt cx="643471" cy="547205"/>
          </a:xfrm>
        </p:grpSpPr>
        <p:sp>
          <p:nvSpPr>
            <p:cNvPr id="10" name="Freeform 10"/>
            <p:cNvSpPr/>
            <p:nvPr/>
          </p:nvSpPr>
          <p:spPr>
            <a:xfrm>
              <a:off x="16891" y="16891"/>
              <a:ext cx="609600" cy="513334"/>
            </a:xfrm>
            <a:custGeom>
              <a:avLst/>
              <a:gdLst/>
              <a:ahLst/>
              <a:cxnLst/>
              <a:rect l="l" t="t" r="r" b="b"/>
              <a:pathLst>
                <a:path w="609600" h="513334">
                  <a:moveTo>
                    <a:pt x="0" y="196088"/>
                  </a:moveTo>
                  <a:lnTo>
                    <a:pt x="232791" y="196088"/>
                  </a:lnTo>
                  <a:lnTo>
                    <a:pt x="304800" y="0"/>
                  </a:lnTo>
                  <a:lnTo>
                    <a:pt x="376809" y="196088"/>
                  </a:lnTo>
                  <a:lnTo>
                    <a:pt x="609600" y="196088"/>
                  </a:lnTo>
                  <a:lnTo>
                    <a:pt x="421259" y="317246"/>
                  </a:lnTo>
                  <a:lnTo>
                    <a:pt x="493268" y="513334"/>
                  </a:lnTo>
                  <a:lnTo>
                    <a:pt x="304927" y="392176"/>
                  </a:lnTo>
                  <a:lnTo>
                    <a:pt x="116459" y="513334"/>
                  </a:lnTo>
                  <a:lnTo>
                    <a:pt x="188468" y="317246"/>
                  </a:lnTo>
                  <a:close/>
                </a:path>
              </a:pathLst>
            </a:custGeom>
            <a:solidFill>
              <a:srgbClr val="FFFF00"/>
            </a:solidFill>
            <a:ln w="12700">
              <a:solidFill>
                <a:srgbClr val="00000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-19" y="0"/>
              <a:ext cx="643471" cy="547280"/>
            </a:xfrm>
            <a:custGeom>
              <a:avLst/>
              <a:gdLst/>
              <a:ahLst/>
              <a:cxnLst/>
              <a:rect l="l" t="t" r="r" b="b"/>
              <a:pathLst>
                <a:path w="643471" h="547280">
                  <a:moveTo>
                    <a:pt x="16910" y="196088"/>
                  </a:moveTo>
                  <a:lnTo>
                    <a:pt x="249701" y="196088"/>
                  </a:lnTo>
                  <a:lnTo>
                    <a:pt x="249701" y="212979"/>
                  </a:lnTo>
                  <a:lnTo>
                    <a:pt x="233826" y="207137"/>
                  </a:lnTo>
                  <a:lnTo>
                    <a:pt x="305835" y="11049"/>
                  </a:lnTo>
                  <a:cubicBezTo>
                    <a:pt x="308248" y="4318"/>
                    <a:pt x="314598" y="0"/>
                    <a:pt x="321710" y="0"/>
                  </a:cubicBezTo>
                  <a:cubicBezTo>
                    <a:pt x="328822" y="0"/>
                    <a:pt x="335172" y="4445"/>
                    <a:pt x="337585" y="11049"/>
                  </a:cubicBezTo>
                  <a:lnTo>
                    <a:pt x="409594" y="207137"/>
                  </a:lnTo>
                  <a:lnTo>
                    <a:pt x="393719" y="212979"/>
                  </a:lnTo>
                  <a:lnTo>
                    <a:pt x="393719" y="196088"/>
                  </a:lnTo>
                  <a:lnTo>
                    <a:pt x="626510" y="196088"/>
                  </a:lnTo>
                  <a:cubicBezTo>
                    <a:pt x="634003" y="196088"/>
                    <a:pt x="640607" y="201041"/>
                    <a:pt x="642766" y="208280"/>
                  </a:cubicBezTo>
                  <a:cubicBezTo>
                    <a:pt x="644925" y="215519"/>
                    <a:pt x="642004" y="223266"/>
                    <a:pt x="635654" y="227330"/>
                  </a:cubicBezTo>
                  <a:lnTo>
                    <a:pt x="447313" y="348488"/>
                  </a:lnTo>
                  <a:lnTo>
                    <a:pt x="438169" y="334264"/>
                  </a:lnTo>
                  <a:lnTo>
                    <a:pt x="454044" y="328422"/>
                  </a:lnTo>
                  <a:lnTo>
                    <a:pt x="526053" y="524510"/>
                  </a:lnTo>
                  <a:cubicBezTo>
                    <a:pt x="528593" y="531368"/>
                    <a:pt x="526434" y="538988"/>
                    <a:pt x="520719" y="543560"/>
                  </a:cubicBezTo>
                  <a:cubicBezTo>
                    <a:pt x="515004" y="548132"/>
                    <a:pt x="507130" y="548513"/>
                    <a:pt x="500907" y="544576"/>
                  </a:cubicBezTo>
                  <a:lnTo>
                    <a:pt x="312566" y="423291"/>
                  </a:lnTo>
                  <a:lnTo>
                    <a:pt x="321710" y="409067"/>
                  </a:lnTo>
                  <a:lnTo>
                    <a:pt x="330854" y="423291"/>
                  </a:lnTo>
                  <a:lnTo>
                    <a:pt x="142513" y="544449"/>
                  </a:lnTo>
                  <a:cubicBezTo>
                    <a:pt x="136417" y="548386"/>
                    <a:pt x="128416" y="548005"/>
                    <a:pt x="122701" y="543433"/>
                  </a:cubicBezTo>
                  <a:cubicBezTo>
                    <a:pt x="116986" y="538861"/>
                    <a:pt x="114827" y="531241"/>
                    <a:pt x="117367" y="524383"/>
                  </a:cubicBezTo>
                  <a:lnTo>
                    <a:pt x="189376" y="328295"/>
                  </a:lnTo>
                  <a:lnTo>
                    <a:pt x="205251" y="334137"/>
                  </a:lnTo>
                  <a:lnTo>
                    <a:pt x="196107" y="348361"/>
                  </a:lnTo>
                  <a:lnTo>
                    <a:pt x="7766" y="227203"/>
                  </a:lnTo>
                  <a:cubicBezTo>
                    <a:pt x="1416" y="223139"/>
                    <a:pt x="-1378" y="215392"/>
                    <a:pt x="654" y="208153"/>
                  </a:cubicBezTo>
                  <a:cubicBezTo>
                    <a:pt x="2686" y="200914"/>
                    <a:pt x="9417" y="195961"/>
                    <a:pt x="16910" y="195961"/>
                  </a:cubicBezTo>
                  <a:moveTo>
                    <a:pt x="16910" y="229870"/>
                  </a:moveTo>
                  <a:lnTo>
                    <a:pt x="16910" y="212979"/>
                  </a:lnTo>
                  <a:lnTo>
                    <a:pt x="26054" y="198755"/>
                  </a:lnTo>
                  <a:lnTo>
                    <a:pt x="214395" y="319913"/>
                  </a:lnTo>
                  <a:cubicBezTo>
                    <a:pt x="221126" y="324231"/>
                    <a:pt x="223920" y="332486"/>
                    <a:pt x="221126" y="339979"/>
                  </a:cubicBezTo>
                  <a:lnTo>
                    <a:pt x="149244" y="536067"/>
                  </a:lnTo>
                  <a:lnTo>
                    <a:pt x="133369" y="530225"/>
                  </a:lnTo>
                  <a:lnTo>
                    <a:pt x="124225" y="516001"/>
                  </a:lnTo>
                  <a:lnTo>
                    <a:pt x="312566" y="394843"/>
                  </a:lnTo>
                  <a:cubicBezTo>
                    <a:pt x="318154" y="391287"/>
                    <a:pt x="325266" y="391287"/>
                    <a:pt x="330854" y="394843"/>
                  </a:cubicBezTo>
                  <a:lnTo>
                    <a:pt x="519195" y="516001"/>
                  </a:lnTo>
                  <a:lnTo>
                    <a:pt x="510051" y="530225"/>
                  </a:lnTo>
                  <a:lnTo>
                    <a:pt x="494176" y="536067"/>
                  </a:lnTo>
                  <a:lnTo>
                    <a:pt x="422167" y="339979"/>
                  </a:lnTo>
                  <a:cubicBezTo>
                    <a:pt x="419373" y="332486"/>
                    <a:pt x="422294" y="324231"/>
                    <a:pt x="428898" y="319913"/>
                  </a:cubicBezTo>
                  <a:lnTo>
                    <a:pt x="617239" y="198755"/>
                  </a:lnTo>
                  <a:lnTo>
                    <a:pt x="626383" y="212979"/>
                  </a:lnTo>
                  <a:lnTo>
                    <a:pt x="626383" y="229870"/>
                  </a:lnTo>
                  <a:lnTo>
                    <a:pt x="393592" y="229870"/>
                  </a:lnTo>
                  <a:cubicBezTo>
                    <a:pt x="386480" y="229870"/>
                    <a:pt x="380130" y="225425"/>
                    <a:pt x="377717" y="218821"/>
                  </a:cubicBezTo>
                  <a:lnTo>
                    <a:pt x="305835" y="22733"/>
                  </a:lnTo>
                  <a:lnTo>
                    <a:pt x="321710" y="16891"/>
                  </a:lnTo>
                  <a:lnTo>
                    <a:pt x="337585" y="22733"/>
                  </a:lnTo>
                  <a:lnTo>
                    <a:pt x="265576" y="218821"/>
                  </a:lnTo>
                  <a:cubicBezTo>
                    <a:pt x="263163" y="225552"/>
                    <a:pt x="256813" y="229870"/>
                    <a:pt x="249701" y="229870"/>
                  </a:cubicBezTo>
                  <a:lnTo>
                    <a:pt x="16910" y="229870"/>
                  </a:lnTo>
                  <a:close/>
                </a:path>
              </a:pathLst>
            </a:custGeom>
            <a:solidFill>
              <a:srgbClr val="E46C0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0" y="67675"/>
            <a:ext cx="7086600" cy="3524526"/>
            <a:chOff x="0" y="0"/>
            <a:chExt cx="9448800" cy="46993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448800" cy="4699381"/>
            </a:xfrm>
            <a:custGeom>
              <a:avLst/>
              <a:gdLst/>
              <a:ahLst/>
              <a:cxnLst/>
              <a:rect l="l" t="t" r="r" b="b"/>
              <a:pathLst>
                <a:path w="9448800" h="4699381">
                  <a:moveTo>
                    <a:pt x="0" y="0"/>
                  </a:moveTo>
                  <a:lnTo>
                    <a:pt x="9448800" y="0"/>
                  </a:lnTo>
                  <a:lnTo>
                    <a:pt x="9448800" y="4699381"/>
                  </a:lnTo>
                  <a:lnTo>
                    <a:pt x="0" y="4699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374" b="-9374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364369" y="5770664"/>
            <a:ext cx="3064659" cy="2878064"/>
            <a:chOff x="0" y="0"/>
            <a:chExt cx="4086212" cy="38374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86225" cy="3837432"/>
            </a:xfrm>
            <a:custGeom>
              <a:avLst/>
              <a:gdLst/>
              <a:ahLst/>
              <a:cxnLst/>
              <a:rect l="l" t="t" r="r" b="b"/>
              <a:pathLst>
                <a:path w="4086225" h="3837432">
                  <a:moveTo>
                    <a:pt x="0" y="0"/>
                  </a:moveTo>
                  <a:lnTo>
                    <a:pt x="4086225" y="0"/>
                  </a:lnTo>
                  <a:lnTo>
                    <a:pt x="4086225" y="3837432"/>
                  </a:lnTo>
                  <a:lnTo>
                    <a:pt x="0" y="3837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241" b="-3241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228600" y="9242584"/>
            <a:ext cx="6223749" cy="59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587" b="1" u="sng">
                <a:solidFill>
                  <a:srgbClr val="0000FF"/>
                </a:solidFill>
                <a:latin typeface="Arimo Bold"/>
                <a:ea typeface="Arimo Bold"/>
                <a:cs typeface="Arimo Bold"/>
                <a:sym typeface="Arimo Bold"/>
                <a:hlinkClick r:id="rId6" tooltip="https://semanticclimate.github.io/p/en/"/>
              </a:rPr>
              <a:t>https://semanticclimate.github.io/p/en/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705198" y="5099628"/>
            <a:ext cx="2381402" cy="1563091"/>
            <a:chOff x="0" y="0"/>
            <a:chExt cx="3175203" cy="208412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75254" cy="2084070"/>
            </a:xfrm>
            <a:custGeom>
              <a:avLst/>
              <a:gdLst/>
              <a:ahLst/>
              <a:cxnLst/>
              <a:rect l="l" t="t" r="r" b="b"/>
              <a:pathLst>
                <a:path w="3175254" h="2084070">
                  <a:moveTo>
                    <a:pt x="0" y="0"/>
                  </a:moveTo>
                  <a:lnTo>
                    <a:pt x="3175254" y="0"/>
                  </a:lnTo>
                  <a:lnTo>
                    <a:pt x="3175254" y="2084070"/>
                  </a:lnTo>
                  <a:lnTo>
                    <a:pt x="0" y="2084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889" r="1" b="-892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7239000" y="5120164"/>
            <a:ext cx="2381402" cy="1584636"/>
            <a:chOff x="0" y="0"/>
            <a:chExt cx="3175203" cy="21128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75254" cy="2112899"/>
            </a:xfrm>
            <a:custGeom>
              <a:avLst/>
              <a:gdLst/>
              <a:ahLst/>
              <a:cxnLst/>
              <a:rect l="l" t="t" r="r" b="b"/>
              <a:pathLst>
                <a:path w="3175254" h="2112899">
                  <a:moveTo>
                    <a:pt x="0" y="0"/>
                  </a:moveTo>
                  <a:lnTo>
                    <a:pt x="3175254" y="0"/>
                  </a:lnTo>
                  <a:lnTo>
                    <a:pt x="3175254" y="2112899"/>
                  </a:lnTo>
                  <a:lnTo>
                    <a:pt x="0" y="2112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97" r="1" b="-194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4705198" y="6764379"/>
            <a:ext cx="2381402" cy="1879502"/>
            <a:chOff x="0" y="0"/>
            <a:chExt cx="3175203" cy="250600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75254" cy="2505964"/>
            </a:xfrm>
            <a:custGeom>
              <a:avLst/>
              <a:gdLst/>
              <a:ahLst/>
              <a:cxnLst/>
              <a:rect l="l" t="t" r="r" b="b"/>
              <a:pathLst>
                <a:path w="3175254" h="2505964">
                  <a:moveTo>
                    <a:pt x="0" y="0"/>
                  </a:moveTo>
                  <a:lnTo>
                    <a:pt x="3175254" y="0"/>
                  </a:lnTo>
                  <a:lnTo>
                    <a:pt x="3175254" y="2505964"/>
                  </a:lnTo>
                  <a:lnTo>
                    <a:pt x="0" y="2505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8886" r="-8884" b="-1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7239000" y="6838569"/>
            <a:ext cx="2381402" cy="1805311"/>
            <a:chOff x="0" y="0"/>
            <a:chExt cx="3175203" cy="240708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75254" cy="2407031"/>
            </a:xfrm>
            <a:custGeom>
              <a:avLst/>
              <a:gdLst/>
              <a:ahLst/>
              <a:cxnLst/>
              <a:rect l="l" t="t" r="r" b="b"/>
              <a:pathLst>
                <a:path w="3175254" h="2407031">
                  <a:moveTo>
                    <a:pt x="0" y="0"/>
                  </a:moveTo>
                  <a:lnTo>
                    <a:pt x="3175254" y="0"/>
                  </a:lnTo>
                  <a:lnTo>
                    <a:pt x="3175254" y="2407031"/>
                  </a:lnTo>
                  <a:lnTo>
                    <a:pt x="0" y="2407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6856" r="-6854" b="-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657" y="2216467"/>
            <a:ext cx="3138106" cy="3138106"/>
            <a:chOff x="0" y="0"/>
            <a:chExt cx="4184142" cy="41841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84142" cy="4184142"/>
            </a:xfrm>
            <a:custGeom>
              <a:avLst/>
              <a:gdLst/>
              <a:ahLst/>
              <a:cxnLst/>
              <a:rect l="l" t="t" r="r" b="b"/>
              <a:pathLst>
                <a:path w="4184142" h="4184142">
                  <a:moveTo>
                    <a:pt x="0" y="0"/>
                  </a:moveTo>
                  <a:lnTo>
                    <a:pt x="4184142" y="0"/>
                  </a:lnTo>
                  <a:lnTo>
                    <a:pt x="4184142" y="4184142"/>
                  </a:lnTo>
                  <a:lnTo>
                    <a:pt x="0" y="418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794" r="-55794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5995683" y="1892617"/>
            <a:ext cx="12085320" cy="601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438" lvl="3" indent="-168860" algn="l">
              <a:lnSpc>
                <a:spcPts val="5038"/>
              </a:lnSpc>
              <a:buFont typeface="Arial"/>
              <a:buChar char="￭"/>
            </a:pPr>
            <a:r>
              <a:rPr lang="en-US" sz="2799" b="1">
                <a:solidFill>
                  <a:srgbClr val="00206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Exponential growth</a:t>
            </a:r>
            <a:r>
              <a:rPr lang="en-US" sz="2799" b="1">
                <a:solidFill>
                  <a:srgbClr val="95373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of publications</a:t>
            </a:r>
          </a:p>
          <a:p>
            <a:pPr marL="675438" lvl="3" indent="-168860" algn="l">
              <a:lnSpc>
                <a:spcPts val="5038"/>
              </a:lnSpc>
              <a:buFont typeface="Arial"/>
              <a:buChar char="￭"/>
            </a:pPr>
            <a:r>
              <a:rPr lang="en-US" sz="2799" b="1">
                <a:solidFill>
                  <a:srgbClr val="95373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Difficult to keep up with the latest developments</a:t>
            </a:r>
          </a:p>
          <a:p>
            <a:pPr marL="675438" lvl="3" indent="-168860" algn="l">
              <a:lnSpc>
                <a:spcPts val="5038"/>
              </a:lnSpc>
              <a:buFont typeface="Arial"/>
              <a:buChar char="￭"/>
            </a:pPr>
            <a:r>
              <a:rPr lang="en-US" sz="2799" b="1">
                <a:solidFill>
                  <a:srgbClr val="95373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Literature exists in </a:t>
            </a:r>
            <a:r>
              <a:rPr lang="en-US" sz="2799" b="1">
                <a:solidFill>
                  <a:srgbClr val="00206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various formats</a:t>
            </a:r>
            <a:r>
              <a:rPr lang="en-US" sz="2799" b="1">
                <a:solidFill>
                  <a:srgbClr val="95373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: mainly PDFs </a:t>
            </a:r>
          </a:p>
          <a:p>
            <a:pPr marL="675438" lvl="3" indent="-168860" algn="l">
              <a:lnSpc>
                <a:spcPts val="5038"/>
              </a:lnSpc>
              <a:buFont typeface="Arial"/>
              <a:buChar char="￭"/>
            </a:pPr>
            <a:r>
              <a:rPr lang="en-US" sz="2799" b="1">
                <a:solidFill>
                  <a:srgbClr val="00206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Not machine-readable</a:t>
            </a:r>
            <a:r>
              <a:rPr lang="en-US" sz="2799" b="1">
                <a:solidFill>
                  <a:srgbClr val="95373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or structured formats</a:t>
            </a:r>
          </a:p>
          <a:p>
            <a:pPr marL="675438" lvl="3" indent="-168860" algn="l">
              <a:lnSpc>
                <a:spcPts val="5038"/>
              </a:lnSpc>
              <a:buFont typeface="Arial"/>
              <a:buChar char="￭"/>
            </a:pPr>
            <a:r>
              <a:rPr lang="en-US" sz="2799" b="1">
                <a:solidFill>
                  <a:srgbClr val="00206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Limited Access</a:t>
            </a:r>
            <a:r>
              <a:rPr lang="en-US" sz="2799" b="1">
                <a:solidFill>
                  <a:srgbClr val="95373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to the repositories and journals</a:t>
            </a:r>
          </a:p>
          <a:p>
            <a:pPr marL="675438" lvl="3" indent="-168860" algn="l">
              <a:lnSpc>
                <a:spcPts val="5038"/>
              </a:lnSpc>
              <a:buFont typeface="Arial"/>
              <a:buChar char="￭"/>
            </a:pPr>
            <a:r>
              <a:rPr lang="en-US" sz="2799" b="1">
                <a:solidFill>
                  <a:srgbClr val="00206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No single platform</a:t>
            </a:r>
            <a:r>
              <a:rPr lang="en-US" sz="2799" b="1">
                <a:solidFill>
                  <a:srgbClr val="95373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for getting access to all research outputs</a:t>
            </a:r>
          </a:p>
          <a:p>
            <a:pPr marL="675438" lvl="3" indent="-168860" algn="l">
              <a:lnSpc>
                <a:spcPts val="5038"/>
              </a:lnSpc>
              <a:buFont typeface="Arial"/>
              <a:buChar char="￭"/>
            </a:pPr>
            <a:r>
              <a:rPr lang="en-US" sz="2799" b="1">
                <a:solidFill>
                  <a:srgbClr val="00206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Bulk downloading</a:t>
            </a:r>
            <a:r>
              <a:rPr lang="en-US" sz="2799" b="1">
                <a:solidFill>
                  <a:srgbClr val="95373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is often restricted</a:t>
            </a:r>
          </a:p>
          <a:p>
            <a:pPr marL="675438" lvl="3" indent="-168860" algn="l">
              <a:lnSpc>
                <a:spcPts val="5038"/>
              </a:lnSpc>
              <a:buFont typeface="Arial"/>
              <a:buChar char="￭"/>
            </a:pPr>
            <a:r>
              <a:rPr lang="en-US" sz="2799" b="1">
                <a:solidFill>
                  <a:srgbClr val="00206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Technical Barriers</a:t>
            </a:r>
            <a:r>
              <a:rPr lang="en-US" sz="2799" b="1">
                <a:solidFill>
                  <a:srgbClr val="95373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to automate article retrieval for people with no coding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41739" y="4525404"/>
            <a:ext cx="3690747" cy="3690747"/>
            <a:chOff x="0" y="0"/>
            <a:chExt cx="4920996" cy="49209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20996" cy="4920996"/>
            </a:xfrm>
            <a:custGeom>
              <a:avLst/>
              <a:gdLst/>
              <a:ahLst/>
              <a:cxnLst/>
              <a:rect l="l" t="t" r="r" b="b"/>
              <a:pathLst>
                <a:path w="4920996" h="4920996">
                  <a:moveTo>
                    <a:pt x="0" y="0"/>
                  </a:moveTo>
                  <a:lnTo>
                    <a:pt x="4920996" y="0"/>
                  </a:lnTo>
                  <a:lnTo>
                    <a:pt x="4920996" y="4920996"/>
                  </a:lnTo>
                  <a:lnTo>
                    <a:pt x="0" y="4920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617922" y="4501593"/>
            <a:ext cx="3738372" cy="3738372"/>
          </a:xfrm>
          <a:custGeom>
            <a:avLst/>
            <a:gdLst/>
            <a:ahLst/>
            <a:cxnLst/>
            <a:rect l="l" t="t" r="r" b="b"/>
            <a:pathLst>
              <a:path w="3738372" h="3738372">
                <a:moveTo>
                  <a:pt x="0" y="0"/>
                </a:moveTo>
                <a:lnTo>
                  <a:pt x="3738371" y="0"/>
                </a:lnTo>
                <a:lnTo>
                  <a:pt x="3738371" y="3738371"/>
                </a:lnTo>
                <a:lnTo>
                  <a:pt x="0" y="3738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2657" y="122363"/>
            <a:ext cx="9469839" cy="814592"/>
            <a:chOff x="0" y="0"/>
            <a:chExt cx="2494114" cy="2145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493379" y="235192"/>
            <a:ext cx="5337779" cy="561720"/>
            <a:chOff x="0" y="0"/>
            <a:chExt cx="1405835" cy="1479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5835" cy="147943"/>
            </a:xfrm>
            <a:custGeom>
              <a:avLst/>
              <a:gdLst/>
              <a:ahLst/>
              <a:cxnLst/>
              <a:rect l="l" t="t" r="r" b="b"/>
              <a:pathLst>
                <a:path w="1405835" h="147943">
                  <a:moveTo>
                    <a:pt x="73971" y="0"/>
                  </a:moveTo>
                  <a:lnTo>
                    <a:pt x="1331863" y="0"/>
                  </a:lnTo>
                  <a:cubicBezTo>
                    <a:pt x="1372717" y="0"/>
                    <a:pt x="1405835" y="33118"/>
                    <a:pt x="1405835" y="73971"/>
                  </a:cubicBezTo>
                  <a:lnTo>
                    <a:pt x="1405835" y="73971"/>
                  </a:lnTo>
                  <a:cubicBezTo>
                    <a:pt x="1405835" y="93590"/>
                    <a:pt x="1398041" y="112405"/>
                    <a:pt x="1384169" y="126277"/>
                  </a:cubicBezTo>
                  <a:cubicBezTo>
                    <a:pt x="1370297" y="140149"/>
                    <a:pt x="1351482" y="147943"/>
                    <a:pt x="1331863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05835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493379" y="338849"/>
            <a:ext cx="545278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WE NEED ALR?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4017" y="197795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2720" y="310625"/>
            <a:ext cx="8030913" cy="561720"/>
            <a:chOff x="0" y="0"/>
            <a:chExt cx="2115138" cy="1479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5138" cy="147943"/>
            </a:xfrm>
            <a:custGeom>
              <a:avLst/>
              <a:gdLst/>
              <a:ahLst/>
              <a:cxnLst/>
              <a:rect l="l" t="t" r="r" b="b"/>
              <a:pathLst>
                <a:path w="2115138" h="147943">
                  <a:moveTo>
                    <a:pt x="73971" y="0"/>
                  </a:moveTo>
                  <a:lnTo>
                    <a:pt x="2041166" y="0"/>
                  </a:lnTo>
                  <a:cubicBezTo>
                    <a:pt x="2060785" y="0"/>
                    <a:pt x="2079600" y="7793"/>
                    <a:pt x="2093472" y="21666"/>
                  </a:cubicBezTo>
                  <a:cubicBezTo>
                    <a:pt x="2107344" y="35538"/>
                    <a:pt x="2115138" y="54353"/>
                    <a:pt x="2115138" y="73971"/>
                  </a:cubicBezTo>
                  <a:lnTo>
                    <a:pt x="2115138" y="73971"/>
                  </a:lnTo>
                  <a:cubicBezTo>
                    <a:pt x="2115138" y="114825"/>
                    <a:pt x="2082019" y="147943"/>
                    <a:pt x="2041166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15138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488609" y="4669582"/>
            <a:ext cx="2330492" cy="2194405"/>
          </a:xfrm>
          <a:custGeom>
            <a:avLst/>
            <a:gdLst/>
            <a:ahLst/>
            <a:cxnLst/>
            <a:rect l="l" t="t" r="r" b="b"/>
            <a:pathLst>
              <a:path w="2330492" h="2194405">
                <a:moveTo>
                  <a:pt x="0" y="0"/>
                </a:moveTo>
                <a:lnTo>
                  <a:pt x="2330492" y="0"/>
                </a:lnTo>
                <a:lnTo>
                  <a:pt x="2330492" y="2194405"/>
                </a:lnTo>
                <a:lnTo>
                  <a:pt x="0" y="219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000891" y="2409950"/>
            <a:ext cx="2383324" cy="1787493"/>
          </a:xfrm>
          <a:custGeom>
            <a:avLst/>
            <a:gdLst/>
            <a:ahLst/>
            <a:cxnLst/>
            <a:rect l="l" t="t" r="r" b="b"/>
            <a:pathLst>
              <a:path w="2383324" h="1787493">
                <a:moveTo>
                  <a:pt x="0" y="0"/>
                </a:moveTo>
                <a:lnTo>
                  <a:pt x="2383323" y="0"/>
                </a:lnTo>
                <a:lnTo>
                  <a:pt x="2383323" y="1787493"/>
                </a:lnTo>
                <a:lnTo>
                  <a:pt x="0" y="17874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3435315" y="5171091"/>
            <a:ext cx="2967241" cy="1780345"/>
          </a:xfrm>
          <a:custGeom>
            <a:avLst/>
            <a:gdLst/>
            <a:ahLst/>
            <a:cxnLst/>
            <a:rect l="l" t="t" r="r" b="b"/>
            <a:pathLst>
              <a:path w="2967241" h="1780345">
                <a:moveTo>
                  <a:pt x="0" y="0"/>
                </a:moveTo>
                <a:lnTo>
                  <a:pt x="2967241" y="0"/>
                </a:lnTo>
                <a:lnTo>
                  <a:pt x="2967241" y="1780345"/>
                </a:lnTo>
                <a:lnTo>
                  <a:pt x="0" y="1780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6263814" y="2409950"/>
            <a:ext cx="2224795" cy="1666449"/>
          </a:xfrm>
          <a:custGeom>
            <a:avLst/>
            <a:gdLst/>
            <a:ahLst/>
            <a:cxnLst/>
            <a:rect l="l" t="t" r="r" b="b"/>
            <a:pathLst>
              <a:path w="2224795" h="1666449">
                <a:moveTo>
                  <a:pt x="0" y="0"/>
                </a:moveTo>
                <a:lnTo>
                  <a:pt x="2224795" y="0"/>
                </a:lnTo>
                <a:lnTo>
                  <a:pt x="2224795" y="1666449"/>
                </a:lnTo>
                <a:lnTo>
                  <a:pt x="0" y="1666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8930249" y="8039959"/>
            <a:ext cx="2484811" cy="2116691"/>
          </a:xfrm>
          <a:custGeom>
            <a:avLst/>
            <a:gdLst/>
            <a:ahLst/>
            <a:cxnLst/>
            <a:rect l="l" t="t" r="r" b="b"/>
            <a:pathLst>
              <a:path w="2484811" h="2116691">
                <a:moveTo>
                  <a:pt x="0" y="0"/>
                </a:moveTo>
                <a:lnTo>
                  <a:pt x="2484811" y="0"/>
                </a:lnTo>
                <a:lnTo>
                  <a:pt x="2484811" y="2116690"/>
                </a:lnTo>
                <a:lnTo>
                  <a:pt x="0" y="2116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2555301" y="5671208"/>
            <a:ext cx="2320282" cy="2170264"/>
          </a:xfrm>
          <a:custGeom>
            <a:avLst/>
            <a:gdLst/>
            <a:ahLst/>
            <a:cxnLst/>
            <a:rect l="l" t="t" r="r" b="b"/>
            <a:pathLst>
              <a:path w="2320282" h="2170264">
                <a:moveTo>
                  <a:pt x="0" y="0"/>
                </a:moveTo>
                <a:lnTo>
                  <a:pt x="2320282" y="0"/>
                </a:lnTo>
                <a:lnTo>
                  <a:pt x="2320282" y="2170264"/>
                </a:lnTo>
                <a:lnTo>
                  <a:pt x="0" y="21702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2700000">
            <a:off x="8498942" y="3920775"/>
            <a:ext cx="1164066" cy="311247"/>
          </a:xfrm>
          <a:custGeom>
            <a:avLst/>
            <a:gdLst/>
            <a:ahLst/>
            <a:cxnLst/>
            <a:rect l="l" t="t" r="r" b="b"/>
            <a:pathLst>
              <a:path w="1164066" h="311247">
                <a:moveTo>
                  <a:pt x="0" y="0"/>
                </a:moveTo>
                <a:lnTo>
                  <a:pt x="1164066" y="0"/>
                </a:lnTo>
                <a:lnTo>
                  <a:pt x="1164066" y="311248"/>
                </a:lnTo>
                <a:lnTo>
                  <a:pt x="0" y="3112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732085" y="414281"/>
            <a:ext cx="769502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APPLICATIONS OF ALR : NAMED ENTITY RECOGNITION (NER)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63204" y="7109811"/>
            <a:ext cx="5029348" cy="49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2913" b="1">
                <a:solidFill>
                  <a:srgbClr val="04ADE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Scholarly publications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49104" y="4274468"/>
            <a:ext cx="1143783" cy="389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2302" b="1">
                <a:solidFill>
                  <a:srgbClr val="4446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Species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46952" y="7158395"/>
            <a:ext cx="4143968" cy="40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401" b="1">
                <a:solidFill>
                  <a:srgbClr val="1E42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Phytochemicals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41166" y="4101183"/>
            <a:ext cx="1620958" cy="40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401" b="1">
                <a:solidFill>
                  <a:srgbClr val="1E42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Drugs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90920" y="8854580"/>
            <a:ext cx="1828235" cy="40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401" b="1">
                <a:solidFill>
                  <a:srgbClr val="1E42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43551" y="8028522"/>
            <a:ext cx="1143783" cy="389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2302" b="1">
                <a:solidFill>
                  <a:srgbClr val="4446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Genes</a:t>
            </a:r>
          </a:p>
        </p:txBody>
      </p:sp>
      <p:sp>
        <p:nvSpPr>
          <p:cNvPr id="22" name="Freeform 22"/>
          <p:cNvSpPr/>
          <p:nvPr/>
        </p:nvSpPr>
        <p:spPr>
          <a:xfrm rot="-907764">
            <a:off x="6408887" y="6045710"/>
            <a:ext cx="1164066" cy="311247"/>
          </a:xfrm>
          <a:custGeom>
            <a:avLst/>
            <a:gdLst/>
            <a:ahLst/>
            <a:cxnLst/>
            <a:rect l="l" t="t" r="r" b="b"/>
            <a:pathLst>
              <a:path w="1164066" h="311247">
                <a:moveTo>
                  <a:pt x="0" y="0"/>
                </a:moveTo>
                <a:lnTo>
                  <a:pt x="1164066" y="0"/>
                </a:lnTo>
                <a:lnTo>
                  <a:pt x="1164066" y="311248"/>
                </a:lnTo>
                <a:lnTo>
                  <a:pt x="0" y="3112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6176546">
            <a:off x="7906576" y="8091303"/>
            <a:ext cx="1164066" cy="311247"/>
          </a:xfrm>
          <a:custGeom>
            <a:avLst/>
            <a:gdLst/>
            <a:ahLst/>
            <a:cxnLst/>
            <a:rect l="l" t="t" r="r" b="b"/>
            <a:pathLst>
              <a:path w="1164066" h="311247">
                <a:moveTo>
                  <a:pt x="0" y="0"/>
                </a:moveTo>
                <a:lnTo>
                  <a:pt x="1164066" y="0"/>
                </a:lnTo>
                <a:lnTo>
                  <a:pt x="1164066" y="311247"/>
                </a:lnTo>
                <a:lnTo>
                  <a:pt x="0" y="3112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8514673">
            <a:off x="10833027" y="4987876"/>
            <a:ext cx="1164066" cy="311247"/>
          </a:xfrm>
          <a:custGeom>
            <a:avLst/>
            <a:gdLst/>
            <a:ahLst/>
            <a:cxnLst/>
            <a:rect l="l" t="t" r="r" b="b"/>
            <a:pathLst>
              <a:path w="1164066" h="311247">
                <a:moveTo>
                  <a:pt x="0" y="0"/>
                </a:moveTo>
                <a:lnTo>
                  <a:pt x="1164065" y="0"/>
                </a:lnTo>
                <a:lnTo>
                  <a:pt x="1164065" y="311248"/>
                </a:lnTo>
                <a:lnTo>
                  <a:pt x="0" y="3112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-9258257">
            <a:off x="11105091" y="6538233"/>
            <a:ext cx="1164066" cy="311247"/>
          </a:xfrm>
          <a:custGeom>
            <a:avLst/>
            <a:gdLst/>
            <a:ahLst/>
            <a:cxnLst/>
            <a:rect l="l" t="t" r="r" b="b"/>
            <a:pathLst>
              <a:path w="1164066" h="311247">
                <a:moveTo>
                  <a:pt x="0" y="0"/>
                </a:moveTo>
                <a:lnTo>
                  <a:pt x="1164066" y="0"/>
                </a:lnTo>
                <a:lnTo>
                  <a:pt x="1164066" y="311248"/>
                </a:lnTo>
                <a:lnTo>
                  <a:pt x="0" y="3112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3466162" y="2530197"/>
            <a:ext cx="2816703" cy="1425956"/>
          </a:xfrm>
          <a:custGeom>
            <a:avLst/>
            <a:gdLst/>
            <a:ahLst/>
            <a:cxnLst/>
            <a:rect l="l" t="t" r="r" b="b"/>
            <a:pathLst>
              <a:path w="2816703" h="1425956">
                <a:moveTo>
                  <a:pt x="0" y="0"/>
                </a:moveTo>
                <a:lnTo>
                  <a:pt x="2816702" y="0"/>
                </a:lnTo>
                <a:lnTo>
                  <a:pt x="2816702" y="1425955"/>
                </a:lnTo>
                <a:lnTo>
                  <a:pt x="0" y="142595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83500" y="3134803"/>
            <a:ext cx="6265648" cy="96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80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about corpus and their applications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74805" y="4682883"/>
            <a:ext cx="6265648" cy="966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281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About the tool (pygetpapers, amilib, docanalysis)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83500" y="6229906"/>
            <a:ext cx="3841775" cy="56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3"/>
              </a:lnSpc>
            </a:pPr>
            <a:r>
              <a:rPr lang="en-US" sz="281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Workflow of the tool</a:t>
            </a:r>
          </a:p>
        </p:txBody>
      </p:sp>
      <p:sp>
        <p:nvSpPr>
          <p:cNvPr id="6" name="Freeform 6"/>
          <p:cNvSpPr/>
          <p:nvPr/>
        </p:nvSpPr>
        <p:spPr>
          <a:xfrm>
            <a:off x="7465971" y="1326963"/>
            <a:ext cx="3754911" cy="750477"/>
          </a:xfrm>
          <a:custGeom>
            <a:avLst/>
            <a:gdLst/>
            <a:ahLst/>
            <a:cxnLst/>
            <a:rect l="l" t="t" r="r" b="b"/>
            <a:pathLst>
              <a:path w="5006549" h="1000636">
                <a:moveTo>
                  <a:pt x="0" y="0"/>
                </a:moveTo>
                <a:lnTo>
                  <a:pt x="5006549" y="0"/>
                </a:lnTo>
                <a:lnTo>
                  <a:pt x="5006549" y="1000636"/>
                </a:lnTo>
                <a:lnTo>
                  <a:pt x="0" y="1000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878265" y="1267576"/>
            <a:ext cx="2930323" cy="80986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238"/>
              </a:lnSpc>
            </a:pPr>
            <a:r>
              <a:rPr lang="en-US" sz="2699" b="1">
                <a:solidFill>
                  <a:srgbClr val="100F0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Add query term </a:t>
            </a:r>
          </a:p>
        </p:txBody>
      </p:sp>
      <p:sp>
        <p:nvSpPr>
          <p:cNvPr id="10" name="Freeform 10"/>
          <p:cNvSpPr/>
          <p:nvPr/>
        </p:nvSpPr>
        <p:spPr>
          <a:xfrm>
            <a:off x="9393857" y="5916308"/>
            <a:ext cx="41338" cy="671323"/>
          </a:xfrm>
          <a:custGeom>
            <a:avLst/>
            <a:gdLst/>
            <a:ahLst/>
            <a:cxnLst/>
            <a:rect l="l" t="t" r="r" b="b"/>
            <a:pathLst>
              <a:path w="41338" h="671323">
                <a:moveTo>
                  <a:pt x="0" y="0"/>
                </a:moveTo>
                <a:lnTo>
                  <a:pt x="41338" y="0"/>
                </a:lnTo>
                <a:lnTo>
                  <a:pt x="41338" y="671323"/>
                </a:lnTo>
                <a:lnTo>
                  <a:pt x="0" y="671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725890" y="6422154"/>
            <a:ext cx="3591306" cy="845725"/>
          </a:xfrm>
          <a:custGeom>
            <a:avLst/>
            <a:gdLst/>
            <a:ahLst/>
            <a:cxnLst/>
            <a:rect l="l" t="t" r="r" b="b"/>
            <a:pathLst>
              <a:path w="3591306" h="845725">
                <a:moveTo>
                  <a:pt x="0" y="0"/>
                </a:moveTo>
                <a:lnTo>
                  <a:pt x="3591306" y="0"/>
                </a:lnTo>
                <a:lnTo>
                  <a:pt x="3591306" y="845725"/>
                </a:lnTo>
                <a:lnTo>
                  <a:pt x="0" y="8457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730649" y="6426915"/>
            <a:ext cx="3581781" cy="83615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100F0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download PDF files</a:t>
            </a:r>
          </a:p>
        </p:txBody>
      </p:sp>
      <p:sp>
        <p:nvSpPr>
          <p:cNvPr id="16" name="Freeform 16"/>
          <p:cNvSpPr/>
          <p:nvPr/>
        </p:nvSpPr>
        <p:spPr>
          <a:xfrm>
            <a:off x="2448053" y="6408327"/>
            <a:ext cx="4937474" cy="845725"/>
          </a:xfrm>
          <a:custGeom>
            <a:avLst/>
            <a:gdLst/>
            <a:ahLst/>
            <a:cxnLst/>
            <a:rect l="l" t="t" r="r" b="b"/>
            <a:pathLst>
              <a:path w="6583299" h="1127633">
                <a:moveTo>
                  <a:pt x="0" y="0"/>
                </a:moveTo>
                <a:lnTo>
                  <a:pt x="6583299" y="0"/>
                </a:lnTo>
                <a:lnTo>
                  <a:pt x="6583299" y="1127633"/>
                </a:lnTo>
                <a:lnTo>
                  <a:pt x="0" y="11276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452820" y="6413087"/>
            <a:ext cx="4927978" cy="83615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100F0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Creates datatables for the corpus</a:t>
            </a:r>
          </a:p>
        </p:txBody>
      </p:sp>
      <p:sp>
        <p:nvSpPr>
          <p:cNvPr id="20" name="Freeform 20"/>
          <p:cNvSpPr/>
          <p:nvPr/>
        </p:nvSpPr>
        <p:spPr>
          <a:xfrm>
            <a:off x="9160806" y="2123352"/>
            <a:ext cx="49435" cy="1401508"/>
          </a:xfrm>
          <a:custGeom>
            <a:avLst/>
            <a:gdLst/>
            <a:ahLst/>
            <a:cxnLst/>
            <a:rect l="l" t="t" r="r" b="b"/>
            <a:pathLst>
              <a:path w="49435" h="1401508">
                <a:moveTo>
                  <a:pt x="0" y="0"/>
                </a:moveTo>
                <a:lnTo>
                  <a:pt x="49435" y="0"/>
                </a:lnTo>
                <a:lnTo>
                  <a:pt x="49435" y="1401508"/>
                </a:lnTo>
                <a:lnTo>
                  <a:pt x="0" y="14015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7475" r="-7456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657558" y="6354395"/>
            <a:ext cx="5271707" cy="845725"/>
          </a:xfrm>
          <a:custGeom>
            <a:avLst/>
            <a:gdLst/>
            <a:ahLst/>
            <a:cxnLst/>
            <a:rect l="l" t="t" r="r" b="b"/>
            <a:pathLst>
              <a:path w="7028943" h="1127633">
                <a:moveTo>
                  <a:pt x="0" y="0"/>
                </a:moveTo>
                <a:lnTo>
                  <a:pt x="7028943" y="0"/>
                </a:lnTo>
                <a:lnTo>
                  <a:pt x="7028943" y="1127633"/>
                </a:lnTo>
                <a:lnTo>
                  <a:pt x="0" y="11276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1667084" y="6359182"/>
            <a:ext cx="5262181" cy="83615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100F0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Give papers in XML/HTML  format</a:t>
            </a:r>
          </a:p>
        </p:txBody>
      </p:sp>
      <p:sp>
        <p:nvSpPr>
          <p:cNvPr id="26" name="Freeform 26"/>
          <p:cNvSpPr/>
          <p:nvPr/>
        </p:nvSpPr>
        <p:spPr>
          <a:xfrm>
            <a:off x="7131101" y="5533408"/>
            <a:ext cx="807352" cy="874919"/>
          </a:xfrm>
          <a:custGeom>
            <a:avLst/>
            <a:gdLst/>
            <a:ahLst/>
            <a:cxnLst/>
            <a:rect l="l" t="t" r="r" b="b"/>
            <a:pathLst>
              <a:path w="807352" h="874919">
                <a:moveTo>
                  <a:pt x="0" y="0"/>
                </a:moveTo>
                <a:lnTo>
                  <a:pt x="807352" y="0"/>
                </a:lnTo>
                <a:lnTo>
                  <a:pt x="807352" y="874919"/>
                </a:lnTo>
                <a:lnTo>
                  <a:pt x="0" y="874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t="-252" b="-252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686806" y="5303970"/>
            <a:ext cx="1266001" cy="1024851"/>
          </a:xfrm>
          <a:custGeom>
            <a:avLst/>
            <a:gdLst/>
            <a:ahLst/>
            <a:cxnLst/>
            <a:rect l="l" t="t" r="r" b="b"/>
            <a:pathLst>
              <a:path w="1266001" h="1024851">
                <a:moveTo>
                  <a:pt x="0" y="0"/>
                </a:moveTo>
                <a:lnTo>
                  <a:pt x="1266001" y="0"/>
                </a:lnTo>
                <a:lnTo>
                  <a:pt x="1266001" y="1024851"/>
                </a:lnTo>
                <a:lnTo>
                  <a:pt x="0" y="10248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t="-24" b="-24"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498884" y="6574089"/>
            <a:ext cx="1606268" cy="679963"/>
            <a:chOff x="0" y="0"/>
            <a:chExt cx="2141691" cy="90661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32888" cy="843153"/>
            </a:xfrm>
            <a:custGeom>
              <a:avLst/>
              <a:gdLst/>
              <a:ahLst/>
              <a:cxnLst/>
              <a:rect l="l" t="t" r="r" b="b"/>
              <a:pathLst>
                <a:path w="2032888" h="843153">
                  <a:moveTo>
                    <a:pt x="0" y="0"/>
                  </a:moveTo>
                  <a:lnTo>
                    <a:pt x="2032888" y="0"/>
                  </a:lnTo>
                  <a:lnTo>
                    <a:pt x="2032888" y="843153"/>
                  </a:lnTo>
                  <a:lnTo>
                    <a:pt x="0" y="843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256999" y="21085"/>
              <a:ext cx="1884693" cy="885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051572" y="4591660"/>
            <a:ext cx="2508256" cy="49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pygetpapers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8155208" y="3524860"/>
            <a:ext cx="2078936" cy="1466010"/>
            <a:chOff x="0" y="0"/>
            <a:chExt cx="3866515" cy="272656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866515" cy="2726563"/>
            </a:xfrm>
            <a:custGeom>
              <a:avLst/>
              <a:gdLst/>
              <a:ahLst/>
              <a:cxnLst/>
              <a:rect l="l" t="t" r="r" b="b"/>
              <a:pathLst>
                <a:path w="3866515" h="2726563">
                  <a:moveTo>
                    <a:pt x="0" y="0"/>
                  </a:moveTo>
                  <a:lnTo>
                    <a:pt x="3866515" y="0"/>
                  </a:lnTo>
                  <a:lnTo>
                    <a:pt x="3866515" y="2726563"/>
                  </a:lnTo>
                  <a:lnTo>
                    <a:pt x="0" y="272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-12560" r="-12560"/>
              </a:stretch>
            </a:blipFill>
          </p:spPr>
        </p:sp>
      </p:grpSp>
      <p:sp>
        <p:nvSpPr>
          <p:cNvPr id="34" name="Freeform 34"/>
          <p:cNvSpPr/>
          <p:nvPr/>
        </p:nvSpPr>
        <p:spPr>
          <a:xfrm>
            <a:off x="7643114" y="5085081"/>
            <a:ext cx="3584162" cy="940880"/>
          </a:xfrm>
          <a:custGeom>
            <a:avLst/>
            <a:gdLst/>
            <a:ahLst/>
            <a:cxnLst/>
            <a:rect l="l" t="t" r="r" b="b"/>
            <a:pathLst>
              <a:path w="3584162" h="940880">
                <a:moveTo>
                  <a:pt x="0" y="0"/>
                </a:moveTo>
                <a:lnTo>
                  <a:pt x="3584162" y="0"/>
                </a:lnTo>
                <a:lnTo>
                  <a:pt x="3584162" y="940880"/>
                </a:lnTo>
                <a:lnTo>
                  <a:pt x="0" y="94088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7684040" y="5003960"/>
            <a:ext cx="3555625" cy="91234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00206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Open access repository (ex: Europe PMC)</a:t>
            </a:r>
          </a:p>
        </p:txBody>
      </p:sp>
      <p:sp>
        <p:nvSpPr>
          <p:cNvPr id="38" name="Freeform 38"/>
          <p:cNvSpPr/>
          <p:nvPr/>
        </p:nvSpPr>
        <p:spPr>
          <a:xfrm>
            <a:off x="8497582" y="7477429"/>
            <a:ext cx="3093719" cy="2778317"/>
          </a:xfrm>
          <a:custGeom>
            <a:avLst/>
            <a:gdLst/>
            <a:ahLst/>
            <a:cxnLst/>
            <a:rect l="l" t="t" r="r" b="b"/>
            <a:pathLst>
              <a:path w="3093719" h="2778317">
                <a:moveTo>
                  <a:pt x="0" y="0"/>
                </a:moveTo>
                <a:lnTo>
                  <a:pt x="3093719" y="0"/>
                </a:lnTo>
                <a:lnTo>
                  <a:pt x="3093719" y="2778318"/>
                </a:lnTo>
                <a:lnTo>
                  <a:pt x="0" y="277831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  <a:ln w="38100" cap="sq">
            <a:solidFill>
              <a:srgbClr val="621344"/>
            </a:solidFill>
            <a:prstDash val="solid"/>
            <a:miter/>
          </a:ln>
        </p:spPr>
      </p:sp>
      <p:grpSp>
        <p:nvGrpSpPr>
          <p:cNvPr id="39" name="Group 39"/>
          <p:cNvGrpSpPr/>
          <p:nvPr/>
        </p:nvGrpSpPr>
        <p:grpSpPr>
          <a:xfrm>
            <a:off x="9372929" y="2560342"/>
            <a:ext cx="1343025" cy="729234"/>
            <a:chOff x="0" y="0"/>
            <a:chExt cx="1790700" cy="97231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790700" cy="972312"/>
            </a:xfrm>
            <a:custGeom>
              <a:avLst/>
              <a:gdLst/>
              <a:ahLst/>
              <a:cxnLst/>
              <a:rect l="l" t="t" r="r" b="b"/>
              <a:pathLst>
                <a:path w="1790700" h="972312">
                  <a:moveTo>
                    <a:pt x="0" y="0"/>
                  </a:moveTo>
                  <a:lnTo>
                    <a:pt x="1790700" y="0"/>
                  </a:lnTo>
                  <a:lnTo>
                    <a:pt x="1790700" y="972312"/>
                  </a:lnTo>
                  <a:lnTo>
                    <a:pt x="0" y="972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139206" y="67056"/>
              <a:ext cx="1642529" cy="781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3315073" y="8481828"/>
            <a:ext cx="4937474" cy="845721"/>
          </a:xfrm>
          <a:custGeom>
            <a:avLst/>
            <a:gdLst/>
            <a:ahLst/>
            <a:cxnLst/>
            <a:rect l="l" t="t" r="r" b="b"/>
            <a:pathLst>
              <a:path w="6583299" h="1127628">
                <a:moveTo>
                  <a:pt x="0" y="0"/>
                </a:moveTo>
                <a:lnTo>
                  <a:pt x="6583299" y="0"/>
                </a:lnTo>
                <a:lnTo>
                  <a:pt x="6583299" y="1127628"/>
                </a:lnTo>
                <a:lnTo>
                  <a:pt x="0" y="112762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3324569" y="8491401"/>
            <a:ext cx="4927978" cy="83614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100F0D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NER (Species, Drug, Diseases etc.)</a:t>
            </a:r>
          </a:p>
        </p:txBody>
      </p:sp>
      <p:sp>
        <p:nvSpPr>
          <p:cNvPr id="47" name="Freeform 47"/>
          <p:cNvSpPr/>
          <p:nvPr/>
        </p:nvSpPr>
        <p:spPr>
          <a:xfrm rot="8671201">
            <a:off x="11402010" y="7850432"/>
            <a:ext cx="2195120" cy="586930"/>
          </a:xfrm>
          <a:custGeom>
            <a:avLst/>
            <a:gdLst/>
            <a:ahLst/>
            <a:cxnLst/>
            <a:rect l="l" t="t" r="r" b="b"/>
            <a:pathLst>
              <a:path w="2195120" h="586930">
                <a:moveTo>
                  <a:pt x="0" y="0"/>
                </a:moveTo>
                <a:lnTo>
                  <a:pt x="2195120" y="0"/>
                </a:lnTo>
                <a:lnTo>
                  <a:pt x="2195120" y="586931"/>
                </a:lnTo>
                <a:lnTo>
                  <a:pt x="0" y="58693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grpSp>
        <p:nvGrpSpPr>
          <p:cNvPr id="48" name="Group 48"/>
          <p:cNvGrpSpPr/>
          <p:nvPr/>
        </p:nvGrpSpPr>
        <p:grpSpPr>
          <a:xfrm>
            <a:off x="181871" y="91035"/>
            <a:ext cx="9469839" cy="814592"/>
            <a:chOff x="0" y="0"/>
            <a:chExt cx="2494114" cy="21454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2360574" y="203864"/>
            <a:ext cx="5305881" cy="561720"/>
            <a:chOff x="0" y="0"/>
            <a:chExt cx="1397434" cy="147943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397434" cy="147943"/>
            </a:xfrm>
            <a:custGeom>
              <a:avLst/>
              <a:gdLst/>
              <a:ahLst/>
              <a:cxnLst/>
              <a:rect l="l" t="t" r="r" b="b"/>
              <a:pathLst>
                <a:path w="1397434" h="147943">
                  <a:moveTo>
                    <a:pt x="73971" y="0"/>
                  </a:moveTo>
                  <a:lnTo>
                    <a:pt x="1323462" y="0"/>
                  </a:lnTo>
                  <a:cubicBezTo>
                    <a:pt x="1343081" y="0"/>
                    <a:pt x="1361896" y="7793"/>
                    <a:pt x="1375768" y="21666"/>
                  </a:cubicBezTo>
                  <a:cubicBezTo>
                    <a:pt x="1389640" y="35538"/>
                    <a:pt x="1397434" y="54353"/>
                    <a:pt x="1397434" y="73971"/>
                  </a:cubicBezTo>
                  <a:lnTo>
                    <a:pt x="1397434" y="73971"/>
                  </a:lnTo>
                  <a:cubicBezTo>
                    <a:pt x="1397434" y="114825"/>
                    <a:pt x="1364316" y="147943"/>
                    <a:pt x="1323462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397434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883500" y="2560342"/>
            <a:ext cx="677772" cy="677772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39D45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1"/>
                </a:lnSpc>
              </a:pPr>
              <a:r>
                <a:rPr lang="en-US" sz="2401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2714132" y="8181790"/>
            <a:ext cx="315855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i="1">
                <a:solidFill>
                  <a:srgbClr val="00B0F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docanalysis/NER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783810" y="5811470"/>
            <a:ext cx="1430679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i="1">
                <a:solidFill>
                  <a:srgbClr val="00B0F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amilib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499150" y="2581885"/>
            <a:ext cx="260808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i="1">
                <a:solidFill>
                  <a:srgbClr val="00B0F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pygetpapers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674760" y="308212"/>
            <a:ext cx="4539729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OVERVIEW OF THE PRESENTATION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5106038" y="5649861"/>
            <a:ext cx="677772" cy="677772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39D45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1"/>
                </a:lnSpc>
              </a:pPr>
              <a:r>
                <a:rPr lang="en-US" sz="2401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5872691" y="8046943"/>
            <a:ext cx="677772" cy="677772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39D45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1"/>
                </a:lnSpc>
              </a:pPr>
              <a:r>
                <a:rPr lang="en-US" sz="2401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79856" y="203864"/>
            <a:ext cx="1814218" cy="1279338"/>
            <a:chOff x="0" y="0"/>
            <a:chExt cx="3866515" cy="27265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6515" cy="2726563"/>
            </a:xfrm>
            <a:custGeom>
              <a:avLst/>
              <a:gdLst/>
              <a:ahLst/>
              <a:cxnLst/>
              <a:rect l="l" t="t" r="r" b="b"/>
              <a:pathLst>
                <a:path w="3866515" h="2726563">
                  <a:moveTo>
                    <a:pt x="0" y="0"/>
                  </a:moveTo>
                  <a:lnTo>
                    <a:pt x="3866515" y="0"/>
                  </a:lnTo>
                  <a:lnTo>
                    <a:pt x="3866515" y="2726563"/>
                  </a:lnTo>
                  <a:lnTo>
                    <a:pt x="0" y="2726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60" r="-1256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81871" y="91035"/>
            <a:ext cx="9469839" cy="814592"/>
            <a:chOff x="0" y="0"/>
            <a:chExt cx="2494114" cy="214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360574" y="203864"/>
            <a:ext cx="5305881" cy="561720"/>
            <a:chOff x="0" y="0"/>
            <a:chExt cx="1397434" cy="1479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7434" cy="147943"/>
            </a:xfrm>
            <a:custGeom>
              <a:avLst/>
              <a:gdLst/>
              <a:ahLst/>
              <a:cxnLst/>
              <a:rect l="l" t="t" r="r" b="b"/>
              <a:pathLst>
                <a:path w="1397434" h="147943">
                  <a:moveTo>
                    <a:pt x="73971" y="0"/>
                  </a:moveTo>
                  <a:lnTo>
                    <a:pt x="1323462" y="0"/>
                  </a:lnTo>
                  <a:cubicBezTo>
                    <a:pt x="1343081" y="0"/>
                    <a:pt x="1361896" y="7793"/>
                    <a:pt x="1375768" y="21666"/>
                  </a:cubicBezTo>
                  <a:cubicBezTo>
                    <a:pt x="1389640" y="35538"/>
                    <a:pt x="1397434" y="54353"/>
                    <a:pt x="1397434" y="73971"/>
                  </a:cubicBezTo>
                  <a:lnTo>
                    <a:pt x="1397434" y="73971"/>
                  </a:lnTo>
                  <a:cubicBezTo>
                    <a:pt x="1397434" y="114825"/>
                    <a:pt x="1364316" y="147943"/>
                    <a:pt x="1323462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7434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49691" y="2643142"/>
            <a:ext cx="1974102" cy="197410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923" r="-1923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3671900" y="2581978"/>
            <a:ext cx="2035266" cy="203526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005" r="-1005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631701" y="6107798"/>
            <a:ext cx="16261390" cy="1790602"/>
          </a:xfrm>
          <a:custGeom>
            <a:avLst/>
            <a:gdLst/>
            <a:ahLst/>
            <a:cxnLst/>
            <a:rect l="l" t="t" r="r" b="b"/>
            <a:pathLst>
              <a:path w="16261390" h="1790602">
                <a:moveTo>
                  <a:pt x="0" y="0"/>
                </a:moveTo>
                <a:lnTo>
                  <a:pt x="16261390" y="0"/>
                </a:lnTo>
                <a:lnTo>
                  <a:pt x="16261390" y="1790602"/>
                </a:lnTo>
                <a:lnTo>
                  <a:pt x="0" y="1790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894" b="-14517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413091" y="9475470"/>
            <a:ext cx="8961120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 b="1">
                <a:solidFill>
                  <a:srgbClr val="E46C0A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GitHub repo: </a:t>
            </a:r>
            <a:r>
              <a:rPr lang="en-US" sz="2799" b="1">
                <a:solidFill>
                  <a:srgbClr val="000000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https://github.com/petermr/pygetpapers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74760" y="308212"/>
            <a:ext cx="4539729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PYGETPAPERS : CORPUS BUILDER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63325" y="1641806"/>
            <a:ext cx="2730326" cy="490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sz="29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developed by: 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49690" y="4922152"/>
            <a:ext cx="6076309" cy="404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4"/>
              </a:lnSpc>
              <a:spcBef>
                <a:spcPct val="0"/>
              </a:spcBef>
            </a:pPr>
            <a:r>
              <a:rPr lang="en-US" sz="2454" b="1" dirty="0">
                <a:solidFill>
                  <a:srgbClr val="19601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Ayush Garg and Peter Murray-Rust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3563" y="2969908"/>
            <a:ext cx="8459591" cy="987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6"/>
              </a:lnSpc>
            </a:pPr>
            <a:r>
              <a:rPr lang="en-US" sz="2733" b="1">
                <a:solidFill>
                  <a:srgbClr val="AD4D17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Automated Download of Research Papers from various scientific repositories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8941" y="2493150"/>
            <a:ext cx="4163949" cy="47625"/>
            <a:chOff x="0" y="0"/>
            <a:chExt cx="5551932" cy="63500"/>
          </a:xfrm>
        </p:grpSpPr>
        <p:sp>
          <p:nvSpPr>
            <p:cNvPr id="3" name="Freeform 3"/>
            <p:cNvSpPr/>
            <p:nvPr/>
          </p:nvSpPr>
          <p:spPr>
            <a:xfrm>
              <a:off x="8509" y="8509"/>
              <a:ext cx="5539232" cy="50800"/>
            </a:xfrm>
            <a:custGeom>
              <a:avLst/>
              <a:gdLst/>
              <a:ahLst/>
              <a:cxnLst/>
              <a:rect l="l" t="t" r="r" b="b"/>
              <a:pathLst>
                <a:path w="5539232" h="50800">
                  <a:moveTo>
                    <a:pt x="0" y="0"/>
                  </a:moveTo>
                  <a:lnTo>
                    <a:pt x="5539232" y="0"/>
                  </a:lnTo>
                  <a:lnTo>
                    <a:pt x="553923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45DA0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556250" cy="67818"/>
            </a:xfrm>
            <a:custGeom>
              <a:avLst/>
              <a:gdLst/>
              <a:ahLst/>
              <a:cxnLst/>
              <a:rect l="l" t="t" r="r" b="b"/>
              <a:pathLst>
                <a:path w="5556250" h="67818">
                  <a:moveTo>
                    <a:pt x="8509" y="0"/>
                  </a:moveTo>
                  <a:lnTo>
                    <a:pt x="5547741" y="0"/>
                  </a:lnTo>
                  <a:cubicBezTo>
                    <a:pt x="5552440" y="0"/>
                    <a:pt x="5556250" y="3810"/>
                    <a:pt x="5556250" y="8509"/>
                  </a:cubicBezTo>
                  <a:lnTo>
                    <a:pt x="5556250" y="59309"/>
                  </a:lnTo>
                  <a:cubicBezTo>
                    <a:pt x="5556250" y="64008"/>
                    <a:pt x="5552440" y="67818"/>
                    <a:pt x="5547741" y="67818"/>
                  </a:cubicBezTo>
                  <a:lnTo>
                    <a:pt x="8509" y="67818"/>
                  </a:lnTo>
                  <a:cubicBezTo>
                    <a:pt x="3810" y="67691"/>
                    <a:pt x="0" y="63881"/>
                    <a:pt x="0" y="59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09"/>
                  </a:lnTo>
                  <a:lnTo>
                    <a:pt x="8509" y="59309"/>
                  </a:lnTo>
                  <a:lnTo>
                    <a:pt x="8509" y="50800"/>
                  </a:lnTo>
                  <a:lnTo>
                    <a:pt x="5547741" y="50800"/>
                  </a:lnTo>
                  <a:lnTo>
                    <a:pt x="5547741" y="59309"/>
                  </a:lnTo>
                  <a:lnTo>
                    <a:pt x="5539232" y="59309"/>
                  </a:lnTo>
                  <a:lnTo>
                    <a:pt x="5539232" y="8509"/>
                  </a:lnTo>
                  <a:lnTo>
                    <a:pt x="5547741" y="8509"/>
                  </a:lnTo>
                  <a:lnTo>
                    <a:pt x="55477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Freeform 5"/>
          <p:cNvSpPr/>
          <p:nvPr/>
        </p:nvSpPr>
        <p:spPr>
          <a:xfrm>
            <a:off x="698870" y="2760445"/>
            <a:ext cx="689324" cy="663511"/>
          </a:xfrm>
          <a:custGeom>
            <a:avLst/>
            <a:gdLst/>
            <a:ahLst/>
            <a:cxnLst/>
            <a:rect l="l" t="t" r="r" b="b"/>
            <a:pathLst>
              <a:path w="689324" h="663511">
                <a:moveTo>
                  <a:pt x="0" y="0"/>
                </a:moveTo>
                <a:lnTo>
                  <a:pt x="689323" y="0"/>
                </a:lnTo>
                <a:lnTo>
                  <a:pt x="689323" y="663511"/>
                </a:lnTo>
                <a:lnTo>
                  <a:pt x="0" y="663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67363" y="2826515"/>
            <a:ext cx="552326" cy="53134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3703" y="1723244"/>
            <a:ext cx="3490989" cy="673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6"/>
              </a:lnSpc>
            </a:pPr>
            <a:r>
              <a:rPr lang="en-US" sz="2733" b="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8956" y="2741400"/>
            <a:ext cx="4016131" cy="558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sz="2751" b="1">
                <a:solidFill>
                  <a:srgbClr val="A315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Date Range Queries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698870" y="5329881"/>
            <a:ext cx="689324" cy="663511"/>
          </a:xfrm>
          <a:custGeom>
            <a:avLst/>
            <a:gdLst/>
            <a:ahLst/>
            <a:cxnLst/>
            <a:rect l="l" t="t" r="r" b="b"/>
            <a:pathLst>
              <a:path w="689324" h="663511">
                <a:moveTo>
                  <a:pt x="0" y="0"/>
                </a:moveTo>
                <a:lnTo>
                  <a:pt x="689323" y="0"/>
                </a:lnTo>
                <a:lnTo>
                  <a:pt x="689323" y="663511"/>
                </a:lnTo>
                <a:lnTo>
                  <a:pt x="0" y="663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67363" y="5395951"/>
            <a:ext cx="552326" cy="53134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8892" y="5310835"/>
            <a:ext cx="3655200" cy="558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sz="2751" b="1">
                <a:solidFill>
                  <a:srgbClr val="A315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Term-based Queries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431392" y="8242754"/>
            <a:ext cx="4154424" cy="582549"/>
            <a:chOff x="0" y="0"/>
            <a:chExt cx="5539232" cy="77673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39232" cy="776732"/>
            </a:xfrm>
            <a:custGeom>
              <a:avLst/>
              <a:gdLst/>
              <a:ahLst/>
              <a:cxnLst/>
              <a:rect l="l" t="t" r="r" b="b"/>
              <a:pathLst>
                <a:path w="5539232" h="776732">
                  <a:moveTo>
                    <a:pt x="0" y="0"/>
                  </a:moveTo>
                  <a:lnTo>
                    <a:pt x="5539232" y="0"/>
                  </a:lnTo>
                  <a:lnTo>
                    <a:pt x="5539232" y="776732"/>
                  </a:lnTo>
                  <a:lnTo>
                    <a:pt x="0" y="776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963" b="-20963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2350086" y="2384860"/>
            <a:ext cx="4316435" cy="6143454"/>
          </a:xfrm>
          <a:custGeom>
            <a:avLst/>
            <a:gdLst/>
            <a:ahLst/>
            <a:cxnLst/>
            <a:rect l="l" t="t" r="r" b="b"/>
            <a:pathLst>
              <a:path w="4316435" h="6143454">
                <a:moveTo>
                  <a:pt x="0" y="0"/>
                </a:moveTo>
                <a:lnTo>
                  <a:pt x="4316435" y="0"/>
                </a:lnTo>
                <a:lnTo>
                  <a:pt x="4316435" y="6143454"/>
                </a:lnTo>
                <a:lnTo>
                  <a:pt x="0" y="61434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0" r="-90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2433011" y="3353086"/>
            <a:ext cx="4163854" cy="60293"/>
            <a:chOff x="0" y="0"/>
            <a:chExt cx="5551805" cy="80391"/>
          </a:xfrm>
        </p:grpSpPr>
        <p:sp>
          <p:nvSpPr>
            <p:cNvPr id="20" name="Freeform 20"/>
            <p:cNvSpPr/>
            <p:nvPr/>
          </p:nvSpPr>
          <p:spPr>
            <a:xfrm>
              <a:off x="8509" y="8509"/>
              <a:ext cx="5539105" cy="67691"/>
            </a:xfrm>
            <a:custGeom>
              <a:avLst/>
              <a:gdLst/>
              <a:ahLst/>
              <a:cxnLst/>
              <a:rect l="l" t="t" r="r" b="b"/>
              <a:pathLst>
                <a:path w="5539105" h="67691">
                  <a:moveTo>
                    <a:pt x="0" y="0"/>
                  </a:moveTo>
                  <a:lnTo>
                    <a:pt x="5539105" y="0"/>
                  </a:lnTo>
                  <a:lnTo>
                    <a:pt x="5539105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145DA0"/>
            </a:solidFill>
            <a:ln w="12700">
              <a:solidFill>
                <a:srgbClr val="00000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5556123" cy="84709"/>
            </a:xfrm>
            <a:custGeom>
              <a:avLst/>
              <a:gdLst/>
              <a:ahLst/>
              <a:cxnLst/>
              <a:rect l="l" t="t" r="r" b="b"/>
              <a:pathLst>
                <a:path w="5556123" h="84709">
                  <a:moveTo>
                    <a:pt x="8509" y="0"/>
                  </a:moveTo>
                  <a:lnTo>
                    <a:pt x="5547614" y="0"/>
                  </a:lnTo>
                  <a:cubicBezTo>
                    <a:pt x="5552313" y="0"/>
                    <a:pt x="5556123" y="3810"/>
                    <a:pt x="5556123" y="8509"/>
                  </a:cubicBezTo>
                  <a:lnTo>
                    <a:pt x="5556123" y="76200"/>
                  </a:lnTo>
                  <a:cubicBezTo>
                    <a:pt x="5556123" y="80899"/>
                    <a:pt x="5552313" y="84709"/>
                    <a:pt x="5547614" y="84709"/>
                  </a:cubicBezTo>
                  <a:lnTo>
                    <a:pt x="8509" y="84709"/>
                  </a:lnTo>
                  <a:cubicBezTo>
                    <a:pt x="3810" y="84582"/>
                    <a:pt x="0" y="80772"/>
                    <a:pt x="0" y="76200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6200"/>
                  </a:lnTo>
                  <a:lnTo>
                    <a:pt x="8509" y="76200"/>
                  </a:lnTo>
                  <a:lnTo>
                    <a:pt x="8509" y="67691"/>
                  </a:lnTo>
                  <a:lnTo>
                    <a:pt x="5547614" y="67691"/>
                  </a:lnTo>
                  <a:lnTo>
                    <a:pt x="5547614" y="76200"/>
                  </a:lnTo>
                  <a:lnTo>
                    <a:pt x="5539105" y="76200"/>
                  </a:lnTo>
                  <a:lnTo>
                    <a:pt x="5539105" y="8509"/>
                  </a:lnTo>
                  <a:lnTo>
                    <a:pt x="5547614" y="8509"/>
                  </a:lnTo>
                  <a:lnTo>
                    <a:pt x="5547614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2718704" y="2502075"/>
            <a:ext cx="3490989" cy="652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6"/>
              </a:lnSpc>
            </a:pPr>
            <a:r>
              <a:rPr lang="en-US" sz="2733" b="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Output Formats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2713939" y="3691305"/>
            <a:ext cx="689324" cy="663511"/>
          </a:xfrm>
          <a:custGeom>
            <a:avLst/>
            <a:gdLst/>
            <a:ahLst/>
            <a:cxnLst/>
            <a:rect l="l" t="t" r="r" b="b"/>
            <a:pathLst>
              <a:path w="689324" h="663511">
                <a:moveTo>
                  <a:pt x="0" y="0"/>
                </a:moveTo>
                <a:lnTo>
                  <a:pt x="689323" y="0"/>
                </a:lnTo>
                <a:lnTo>
                  <a:pt x="689323" y="663511"/>
                </a:lnTo>
                <a:lnTo>
                  <a:pt x="0" y="6635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2782436" y="3757374"/>
            <a:ext cx="552326" cy="53135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43493" y="3790623"/>
            <a:ext cx="2666200" cy="404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</a:pPr>
            <a:r>
              <a:rPr lang="en-US" sz="2454" b="1">
                <a:solidFill>
                  <a:srgbClr val="A315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JSON Metadata</a:t>
            </a:r>
          </a:p>
        </p:txBody>
      </p:sp>
      <p:sp>
        <p:nvSpPr>
          <p:cNvPr id="28" name="Freeform 28"/>
          <p:cNvSpPr/>
          <p:nvPr/>
        </p:nvSpPr>
        <p:spPr>
          <a:xfrm>
            <a:off x="12713939" y="4498619"/>
            <a:ext cx="689324" cy="663511"/>
          </a:xfrm>
          <a:custGeom>
            <a:avLst/>
            <a:gdLst/>
            <a:ahLst/>
            <a:cxnLst/>
            <a:rect l="l" t="t" r="r" b="b"/>
            <a:pathLst>
              <a:path w="689324" h="663511">
                <a:moveTo>
                  <a:pt x="0" y="0"/>
                </a:moveTo>
                <a:lnTo>
                  <a:pt x="689323" y="0"/>
                </a:lnTo>
                <a:lnTo>
                  <a:pt x="689323" y="663511"/>
                </a:lnTo>
                <a:lnTo>
                  <a:pt x="0" y="6635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2782436" y="4564694"/>
            <a:ext cx="552326" cy="53135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654484" y="4611595"/>
            <a:ext cx="1945929" cy="48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33"/>
              </a:lnSpc>
            </a:pPr>
            <a:r>
              <a:rPr lang="en-US" sz="2454" b="1">
                <a:solidFill>
                  <a:srgbClr val="A315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CSV Output</a:t>
            </a:r>
          </a:p>
        </p:txBody>
      </p:sp>
      <p:sp>
        <p:nvSpPr>
          <p:cNvPr id="33" name="Freeform 33"/>
          <p:cNvSpPr/>
          <p:nvPr/>
        </p:nvSpPr>
        <p:spPr>
          <a:xfrm>
            <a:off x="12713939" y="5304985"/>
            <a:ext cx="689324" cy="663511"/>
          </a:xfrm>
          <a:custGeom>
            <a:avLst/>
            <a:gdLst/>
            <a:ahLst/>
            <a:cxnLst/>
            <a:rect l="l" t="t" r="r" b="b"/>
            <a:pathLst>
              <a:path w="689324" h="663511">
                <a:moveTo>
                  <a:pt x="0" y="0"/>
                </a:moveTo>
                <a:lnTo>
                  <a:pt x="689323" y="0"/>
                </a:lnTo>
                <a:lnTo>
                  <a:pt x="689323" y="663511"/>
                </a:lnTo>
                <a:lnTo>
                  <a:pt x="0" y="6635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2782436" y="5371052"/>
            <a:ext cx="552326" cy="53135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431837" y="5394046"/>
            <a:ext cx="2391223" cy="484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</a:pPr>
            <a:r>
              <a:rPr lang="en-US" sz="2454" b="1">
                <a:solidFill>
                  <a:srgbClr val="A315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HTML Tables</a:t>
            </a:r>
          </a:p>
        </p:txBody>
      </p:sp>
      <p:sp>
        <p:nvSpPr>
          <p:cNvPr id="38" name="Freeform 38"/>
          <p:cNvSpPr/>
          <p:nvPr/>
        </p:nvSpPr>
        <p:spPr>
          <a:xfrm>
            <a:off x="12713939" y="6158977"/>
            <a:ext cx="689324" cy="663511"/>
          </a:xfrm>
          <a:custGeom>
            <a:avLst/>
            <a:gdLst/>
            <a:ahLst/>
            <a:cxnLst/>
            <a:rect l="l" t="t" r="r" b="b"/>
            <a:pathLst>
              <a:path w="689324" h="663511">
                <a:moveTo>
                  <a:pt x="0" y="0"/>
                </a:moveTo>
                <a:lnTo>
                  <a:pt x="689323" y="0"/>
                </a:lnTo>
                <a:lnTo>
                  <a:pt x="689323" y="663511"/>
                </a:lnTo>
                <a:lnTo>
                  <a:pt x="0" y="6635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2782436" y="6225045"/>
            <a:ext cx="552326" cy="53135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448589" y="6267758"/>
            <a:ext cx="2357718" cy="404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</a:pPr>
            <a:r>
              <a:rPr lang="en-US" sz="2454" b="1" dirty="0">
                <a:solidFill>
                  <a:srgbClr val="A315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Full text PDF </a:t>
            </a:r>
          </a:p>
        </p:txBody>
      </p:sp>
      <p:sp>
        <p:nvSpPr>
          <p:cNvPr id="48" name="Freeform 48"/>
          <p:cNvSpPr/>
          <p:nvPr/>
        </p:nvSpPr>
        <p:spPr>
          <a:xfrm>
            <a:off x="1966874" y="3441516"/>
            <a:ext cx="7249458" cy="1558176"/>
          </a:xfrm>
          <a:custGeom>
            <a:avLst/>
            <a:gdLst/>
            <a:ahLst/>
            <a:cxnLst/>
            <a:rect l="l" t="t" r="r" b="b"/>
            <a:pathLst>
              <a:path w="7249458" h="1558176">
                <a:moveTo>
                  <a:pt x="0" y="0"/>
                </a:moveTo>
                <a:lnTo>
                  <a:pt x="7249459" y="0"/>
                </a:lnTo>
                <a:lnTo>
                  <a:pt x="7249459" y="1558176"/>
                </a:lnTo>
                <a:lnTo>
                  <a:pt x="0" y="15581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66" b="-66"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2367001" y="3715674"/>
            <a:ext cx="558820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Search papers published between dates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227002" y="4220604"/>
            <a:ext cx="650690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--</a:t>
            </a:r>
            <a:r>
              <a:rPr lang="en-US" sz="2300" b="1">
                <a:solidFill>
                  <a:srgbClr val="0000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startdate</a:t>
            </a:r>
            <a:r>
              <a:rPr lang="en-US" sz="23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2023-01-01 --</a:t>
            </a:r>
            <a:r>
              <a:rPr lang="en-US" sz="2300" b="1">
                <a:solidFill>
                  <a:srgbClr val="0000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enddate</a:t>
            </a:r>
            <a:r>
              <a:rPr lang="en-US" sz="23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2023-12-31</a:t>
            </a:r>
          </a:p>
        </p:txBody>
      </p:sp>
      <p:sp>
        <p:nvSpPr>
          <p:cNvPr id="51" name="Freeform 51"/>
          <p:cNvSpPr/>
          <p:nvPr/>
        </p:nvSpPr>
        <p:spPr>
          <a:xfrm>
            <a:off x="1449353" y="6166771"/>
            <a:ext cx="8006858" cy="1558176"/>
          </a:xfrm>
          <a:custGeom>
            <a:avLst/>
            <a:gdLst/>
            <a:ahLst/>
            <a:cxnLst/>
            <a:rect l="l" t="t" r="r" b="b"/>
            <a:pathLst>
              <a:path w="8006858" h="1558176">
                <a:moveTo>
                  <a:pt x="0" y="0"/>
                </a:moveTo>
                <a:lnTo>
                  <a:pt x="8006857" y="0"/>
                </a:lnTo>
                <a:lnTo>
                  <a:pt x="8006857" y="1558175"/>
                </a:lnTo>
                <a:lnTo>
                  <a:pt x="0" y="15581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03" b="-102"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2813247" y="6393409"/>
            <a:ext cx="5279079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D40B8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terms.txt</a:t>
            </a:r>
            <a:r>
              <a:rPr lang="en-US" sz="23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with comma-separated terms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970089" y="6945859"/>
            <a:ext cx="507117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drug, natural products, deep learning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81871" y="91035"/>
            <a:ext cx="9469839" cy="814592"/>
            <a:chOff x="0" y="0"/>
            <a:chExt cx="2494114" cy="21454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360574" y="203864"/>
            <a:ext cx="6055139" cy="561720"/>
            <a:chOff x="0" y="0"/>
            <a:chExt cx="1594769" cy="14794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594769" cy="147943"/>
            </a:xfrm>
            <a:custGeom>
              <a:avLst/>
              <a:gdLst/>
              <a:ahLst/>
              <a:cxnLst/>
              <a:rect l="l" t="t" r="r" b="b"/>
              <a:pathLst>
                <a:path w="1594769" h="147943">
                  <a:moveTo>
                    <a:pt x="73971" y="0"/>
                  </a:moveTo>
                  <a:lnTo>
                    <a:pt x="1520798" y="0"/>
                  </a:lnTo>
                  <a:cubicBezTo>
                    <a:pt x="1540416" y="0"/>
                    <a:pt x="1559231" y="7793"/>
                    <a:pt x="1573103" y="21666"/>
                  </a:cubicBezTo>
                  <a:cubicBezTo>
                    <a:pt x="1586976" y="35538"/>
                    <a:pt x="1594769" y="54353"/>
                    <a:pt x="1594769" y="73971"/>
                  </a:cubicBezTo>
                  <a:lnTo>
                    <a:pt x="1594769" y="73971"/>
                  </a:lnTo>
                  <a:cubicBezTo>
                    <a:pt x="1594769" y="114825"/>
                    <a:pt x="1561651" y="147943"/>
                    <a:pt x="1520798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1594769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2674760" y="308212"/>
            <a:ext cx="541756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ADVANCED FEATURES : PYGETPAPERS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871" y="91035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82345" y="203864"/>
            <a:ext cx="1657250" cy="561720"/>
            <a:chOff x="0" y="0"/>
            <a:chExt cx="436477" cy="1479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6477" cy="147943"/>
            </a:xfrm>
            <a:custGeom>
              <a:avLst/>
              <a:gdLst/>
              <a:ahLst/>
              <a:cxnLst/>
              <a:rect l="l" t="t" r="r" b="b"/>
              <a:pathLst>
                <a:path w="436477" h="147943">
                  <a:moveTo>
                    <a:pt x="73971" y="0"/>
                  </a:moveTo>
                  <a:lnTo>
                    <a:pt x="362506" y="0"/>
                  </a:lnTo>
                  <a:cubicBezTo>
                    <a:pt x="403359" y="0"/>
                    <a:pt x="436477" y="33118"/>
                    <a:pt x="436477" y="73971"/>
                  </a:cubicBezTo>
                  <a:lnTo>
                    <a:pt x="436477" y="73971"/>
                  </a:lnTo>
                  <a:cubicBezTo>
                    <a:pt x="436477" y="93590"/>
                    <a:pt x="428684" y="112405"/>
                    <a:pt x="414812" y="126277"/>
                  </a:cubicBezTo>
                  <a:cubicBezTo>
                    <a:pt x="400939" y="140149"/>
                    <a:pt x="382124" y="147943"/>
                    <a:pt x="362506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6477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93703" y="5496257"/>
            <a:ext cx="17058888" cy="2047067"/>
          </a:xfrm>
          <a:custGeom>
            <a:avLst/>
            <a:gdLst/>
            <a:ahLst/>
            <a:cxnLst/>
            <a:rect l="l" t="t" r="r" b="b"/>
            <a:pathLst>
              <a:path w="17058888" h="2047067">
                <a:moveTo>
                  <a:pt x="0" y="0"/>
                </a:moveTo>
                <a:lnTo>
                  <a:pt x="17058888" y="0"/>
                </a:lnTo>
                <a:lnTo>
                  <a:pt x="17058888" y="2047067"/>
                </a:lnTo>
                <a:lnTo>
                  <a:pt x="0" y="2047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2164699" y="1449129"/>
            <a:ext cx="2593387" cy="259338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005" r="-100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93703" y="1723244"/>
            <a:ext cx="10034561" cy="1959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6"/>
              </a:lnSpc>
            </a:pPr>
            <a:r>
              <a:rPr lang="en-US" sz="2733" b="1">
                <a:solidFill>
                  <a:srgbClr val="AD4D17"/>
                </a:solidFill>
                <a:latin typeface="Poppins Bold"/>
                <a:ea typeface="Poppins Bold"/>
                <a:cs typeface="Poppins Bold"/>
                <a:sym typeface="Poppins Bold"/>
              </a:rPr>
              <a:t>Library to support downloading and analysis of documents</a:t>
            </a:r>
            <a:r>
              <a:rPr lang="en-US" sz="2733" b="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, mainly from Open Access repositories, from published scholarly articles, or from authoritative sites such as UN IPCC or UNFCCC.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74760" y="308212"/>
            <a:ext cx="541756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AMILIB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77482" y="858001"/>
            <a:ext cx="2730326" cy="490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sz="29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developed by: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02083" y="4238808"/>
            <a:ext cx="5357217" cy="1023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4"/>
              </a:lnSpc>
              <a:spcBef>
                <a:spcPct val="0"/>
              </a:spcBef>
            </a:pPr>
            <a:r>
              <a:rPr lang="en-US" sz="2454" b="1">
                <a:solidFill>
                  <a:srgbClr val="1E42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Peter Murray-Rust</a:t>
            </a:r>
          </a:p>
          <a:p>
            <a:pPr algn="l">
              <a:lnSpc>
                <a:spcPts val="2453"/>
              </a:lnSpc>
              <a:spcBef>
                <a:spcPct val="0"/>
              </a:spcBef>
            </a:pPr>
            <a:r>
              <a:rPr lang="en-US" sz="1754" b="1">
                <a:solidFill>
                  <a:srgbClr val="1E42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Professor Emeritus, Cambridge University</a:t>
            </a:r>
          </a:p>
          <a:p>
            <a:pPr algn="l">
              <a:lnSpc>
                <a:spcPts val="2454"/>
              </a:lnSpc>
              <a:spcBef>
                <a:spcPct val="0"/>
              </a:spcBef>
            </a:pPr>
            <a:r>
              <a:rPr lang="en-US" sz="1754" b="1">
                <a:solidFill>
                  <a:srgbClr val="1E42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 Co-Founder #semanticClimate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37037" y="7743349"/>
            <a:ext cx="12621049" cy="156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9"/>
              </a:lnSpc>
            </a:pPr>
            <a:r>
              <a:rPr lang="en-US" sz="4478" b="1" i="1">
                <a:solidFill>
                  <a:srgbClr val="1E420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Used for semantic indexing of the corpus: Datatable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58372" y="9459119"/>
            <a:ext cx="6304508" cy="654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3473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github.com/petermr/amilib"/>
              </a:rPr>
              <a:t>https://github.com/petermr/amilib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871" y="91035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78960" y="203864"/>
            <a:ext cx="2972273" cy="561720"/>
            <a:chOff x="0" y="0"/>
            <a:chExt cx="782821" cy="1479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82821" cy="147943"/>
            </a:xfrm>
            <a:custGeom>
              <a:avLst/>
              <a:gdLst/>
              <a:ahLst/>
              <a:cxnLst/>
              <a:rect l="l" t="t" r="r" b="b"/>
              <a:pathLst>
                <a:path w="782821" h="147943">
                  <a:moveTo>
                    <a:pt x="73971" y="0"/>
                  </a:moveTo>
                  <a:lnTo>
                    <a:pt x="708850" y="0"/>
                  </a:lnTo>
                  <a:cubicBezTo>
                    <a:pt x="728468" y="0"/>
                    <a:pt x="747283" y="7793"/>
                    <a:pt x="761155" y="21666"/>
                  </a:cubicBezTo>
                  <a:cubicBezTo>
                    <a:pt x="775027" y="35538"/>
                    <a:pt x="782821" y="54353"/>
                    <a:pt x="782821" y="73971"/>
                  </a:cubicBezTo>
                  <a:lnTo>
                    <a:pt x="782821" y="73971"/>
                  </a:lnTo>
                  <a:cubicBezTo>
                    <a:pt x="782821" y="114825"/>
                    <a:pt x="749703" y="147943"/>
                    <a:pt x="708850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82821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28834" y="1732012"/>
            <a:ext cx="2027621" cy="202762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354579" y="1808969"/>
            <a:ext cx="1950664" cy="195066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005" r="-1005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598550" y="5679877"/>
            <a:ext cx="16214631" cy="2310585"/>
          </a:xfrm>
          <a:custGeom>
            <a:avLst/>
            <a:gdLst/>
            <a:ahLst/>
            <a:cxnLst/>
            <a:rect l="l" t="t" r="r" b="b"/>
            <a:pathLst>
              <a:path w="16214631" h="2310585">
                <a:moveTo>
                  <a:pt x="0" y="0"/>
                </a:moveTo>
                <a:lnTo>
                  <a:pt x="16214632" y="0"/>
                </a:lnTo>
                <a:lnTo>
                  <a:pt x="16214632" y="2310585"/>
                </a:lnTo>
                <a:lnTo>
                  <a:pt x="0" y="2310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93703" y="1723244"/>
            <a:ext cx="10034561" cy="3359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23"/>
              </a:lnSpc>
            </a:pPr>
            <a:r>
              <a:rPr lang="en-US" sz="2733" b="1">
                <a:solidFill>
                  <a:srgbClr val="607596"/>
                </a:solidFill>
                <a:latin typeface="Poppins Bold"/>
                <a:ea typeface="Poppins Bold"/>
                <a:cs typeface="Poppins Bold"/>
                <a:sym typeface="Poppins Bold"/>
              </a:rPr>
              <a:t>docanalysis is a Command Line Tool that ingests corpora </a:t>
            </a:r>
            <a:r>
              <a:rPr lang="en-US" sz="2733" b="1" u="sng">
                <a:solidFill>
                  <a:srgbClr val="607596"/>
                </a:solidFill>
                <a:latin typeface="Poppins Bold"/>
                <a:ea typeface="Poppins Bold"/>
                <a:cs typeface="Poppins Bold"/>
                <a:sym typeface="Poppins Bold"/>
                <a:hlinkClick r:id="rId5" tooltip="https://github.com/petermr/tigr2ess/blob/master/getpapers/TUTORIAL.md#cproject-and-ctrees"/>
              </a:rPr>
              <a:t>(CProjects)</a:t>
            </a:r>
            <a:r>
              <a:rPr lang="en-US" sz="2733" b="1">
                <a:solidFill>
                  <a:srgbClr val="607596"/>
                </a:solidFill>
                <a:latin typeface="Poppins Bold"/>
                <a:ea typeface="Poppins Bold"/>
                <a:cs typeface="Poppins Bold"/>
                <a:sym typeface="Poppins Bold"/>
              </a:rPr>
              <a:t> and carries out text-analysis of documents, including</a:t>
            </a:r>
          </a:p>
          <a:p>
            <a:pPr marL="590055" lvl="1" indent="-295027" algn="just">
              <a:lnSpc>
                <a:spcPts val="3823"/>
              </a:lnSpc>
              <a:buFont typeface="Arial"/>
              <a:buChar char="•"/>
            </a:pPr>
            <a:r>
              <a:rPr lang="en-US" sz="2733" b="1">
                <a:solidFill>
                  <a:srgbClr val="607596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sectioning</a:t>
            </a:r>
          </a:p>
          <a:p>
            <a:pPr marL="590055" lvl="1" indent="-295027" algn="just">
              <a:lnSpc>
                <a:spcPts val="3823"/>
              </a:lnSpc>
              <a:buFont typeface="Arial"/>
              <a:buChar char="•"/>
            </a:pPr>
            <a:r>
              <a:rPr lang="en-US" sz="2733" b="1">
                <a:solidFill>
                  <a:srgbClr val="607596"/>
                </a:solidFill>
                <a:latin typeface="Poppins Bold"/>
                <a:ea typeface="Poppins Bold"/>
                <a:cs typeface="Poppins Bold"/>
                <a:sym typeface="Poppins Bold"/>
              </a:rPr>
              <a:t>NLP/text-mining</a:t>
            </a:r>
          </a:p>
          <a:p>
            <a:pPr marL="590055" lvl="1" indent="-295027" algn="just">
              <a:lnSpc>
                <a:spcPts val="3823"/>
              </a:lnSpc>
              <a:buFont typeface="Arial"/>
              <a:buChar char="•"/>
            </a:pPr>
            <a:r>
              <a:rPr lang="en-US" sz="2733" b="1">
                <a:solidFill>
                  <a:srgbClr val="607596"/>
                </a:solidFill>
                <a:latin typeface="Poppins Bold"/>
                <a:ea typeface="Poppins Bold"/>
                <a:cs typeface="Poppins Bold"/>
                <a:sym typeface="Poppins Bold"/>
              </a:rPr>
              <a:t>dictionary generation</a:t>
            </a:r>
          </a:p>
          <a:p>
            <a:pPr algn="just">
              <a:lnSpc>
                <a:spcPts val="3826"/>
              </a:lnSpc>
            </a:pPr>
            <a:endParaRPr lang="en-US" sz="2733" b="1">
              <a:solidFill>
                <a:srgbClr val="607596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674760" y="308212"/>
            <a:ext cx="541756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77482" y="858001"/>
            <a:ext cx="2730326" cy="490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1"/>
              </a:lnSpc>
            </a:pPr>
            <a:r>
              <a:rPr lang="en-US" sz="29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developed by: 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13722" y="4284681"/>
            <a:ext cx="3681715" cy="833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4"/>
              </a:lnSpc>
              <a:spcBef>
                <a:spcPct val="0"/>
              </a:spcBef>
            </a:pPr>
            <a:r>
              <a:rPr lang="en-US" sz="2454" b="1">
                <a:solidFill>
                  <a:srgbClr val="1E420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Shweata N Hegde and Peter Murray-Rust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5427" y="8190487"/>
            <a:ext cx="13625620" cy="821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8"/>
              </a:lnSpc>
            </a:pPr>
            <a:r>
              <a:rPr lang="en-US" sz="4834" b="1" i="1">
                <a:solidFill>
                  <a:srgbClr val="1E420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Used for named entity recognition (NER)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77600" y="9463088"/>
            <a:ext cx="6806265" cy="504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966" u="sng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s://github.com/petermr/docanalysis"/>
              </a:rPr>
              <a:t>https://github.com/petermr/docanalysis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26435" y="2236983"/>
            <a:ext cx="2096166" cy="1066083"/>
            <a:chOff x="0" y="0"/>
            <a:chExt cx="2794888" cy="1421444"/>
          </a:xfrm>
        </p:grpSpPr>
        <p:grpSp>
          <p:nvGrpSpPr>
            <p:cNvPr id="3" name="Group 3"/>
            <p:cNvGrpSpPr/>
            <p:nvPr/>
          </p:nvGrpSpPr>
          <p:grpSpPr>
            <a:xfrm>
              <a:off x="1525" y="1527"/>
              <a:ext cx="2791841" cy="689864"/>
              <a:chOff x="0" y="0"/>
              <a:chExt cx="2791841" cy="68986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8509" y="8509"/>
                <a:ext cx="2779141" cy="677164"/>
              </a:xfrm>
              <a:custGeom>
                <a:avLst/>
                <a:gdLst/>
                <a:ahLst/>
                <a:cxnLst/>
                <a:rect l="l" t="t" r="r" b="b"/>
                <a:pathLst>
                  <a:path w="2779141" h="677164">
                    <a:moveTo>
                      <a:pt x="0" y="0"/>
                    </a:moveTo>
                    <a:lnTo>
                      <a:pt x="2779141" y="0"/>
                    </a:lnTo>
                    <a:lnTo>
                      <a:pt x="2779141" y="677164"/>
                    </a:lnTo>
                    <a:lnTo>
                      <a:pt x="0" y="677164"/>
                    </a:lnTo>
                    <a:close/>
                  </a:path>
                </a:pathLst>
              </a:custGeom>
              <a:solidFill>
                <a:srgbClr val="632523"/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0" y="0"/>
                <a:ext cx="2796159" cy="694182"/>
              </a:xfrm>
              <a:custGeom>
                <a:avLst/>
                <a:gdLst/>
                <a:ahLst/>
                <a:cxnLst/>
                <a:rect l="l" t="t" r="r" b="b"/>
                <a:pathLst>
                  <a:path w="2796159" h="694182">
                    <a:moveTo>
                      <a:pt x="8509" y="0"/>
                    </a:moveTo>
                    <a:lnTo>
                      <a:pt x="2787650" y="0"/>
                    </a:lnTo>
                    <a:cubicBezTo>
                      <a:pt x="2792349" y="0"/>
                      <a:pt x="2796159" y="3810"/>
                      <a:pt x="2796159" y="8509"/>
                    </a:cubicBezTo>
                    <a:lnTo>
                      <a:pt x="2796159" y="685673"/>
                    </a:lnTo>
                    <a:cubicBezTo>
                      <a:pt x="2796159" y="690372"/>
                      <a:pt x="2792349" y="694182"/>
                      <a:pt x="2787650" y="694182"/>
                    </a:cubicBezTo>
                    <a:lnTo>
                      <a:pt x="8509" y="694182"/>
                    </a:lnTo>
                    <a:cubicBezTo>
                      <a:pt x="3810" y="694182"/>
                      <a:pt x="0" y="690372"/>
                      <a:pt x="0" y="685673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685673"/>
                    </a:lnTo>
                    <a:lnTo>
                      <a:pt x="8509" y="685673"/>
                    </a:lnTo>
                    <a:lnTo>
                      <a:pt x="8509" y="677164"/>
                    </a:lnTo>
                    <a:lnTo>
                      <a:pt x="2787650" y="677164"/>
                    </a:lnTo>
                    <a:lnTo>
                      <a:pt x="2787650" y="685673"/>
                    </a:lnTo>
                    <a:lnTo>
                      <a:pt x="2779141" y="685673"/>
                    </a:lnTo>
                    <a:lnTo>
                      <a:pt x="2779141" y="8509"/>
                    </a:lnTo>
                    <a:lnTo>
                      <a:pt x="2787650" y="8509"/>
                    </a:lnTo>
                    <a:lnTo>
                      <a:pt x="2787650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id="6" name="Freeform 6"/>
            <p:cNvSpPr/>
            <p:nvPr/>
          </p:nvSpPr>
          <p:spPr>
            <a:xfrm>
              <a:off x="0" y="0"/>
              <a:ext cx="2794888" cy="692912"/>
            </a:xfrm>
            <a:custGeom>
              <a:avLst/>
              <a:gdLst/>
              <a:ahLst/>
              <a:cxnLst/>
              <a:rect l="l" t="t" r="r" b="b"/>
              <a:pathLst>
                <a:path w="2794888" h="692912">
                  <a:moveTo>
                    <a:pt x="0" y="0"/>
                  </a:moveTo>
                  <a:lnTo>
                    <a:pt x="2794888" y="0"/>
                  </a:lnTo>
                  <a:lnTo>
                    <a:pt x="2794888" y="692912"/>
                  </a:lnTo>
                  <a:lnTo>
                    <a:pt x="0" y="69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75604" y="97831"/>
              <a:ext cx="2643670" cy="519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Search query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1521311" y="673591"/>
              <a:ext cx="38543" cy="747853"/>
            </a:xfrm>
            <a:custGeom>
              <a:avLst/>
              <a:gdLst/>
              <a:ahLst/>
              <a:cxnLst/>
              <a:rect l="l" t="t" r="r" b="b"/>
              <a:pathLst>
                <a:path w="38543" h="747853">
                  <a:moveTo>
                    <a:pt x="0" y="0"/>
                  </a:moveTo>
                  <a:lnTo>
                    <a:pt x="38543" y="0"/>
                  </a:lnTo>
                  <a:lnTo>
                    <a:pt x="38543" y="747853"/>
                  </a:lnTo>
                  <a:lnTo>
                    <a:pt x="0" y="747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1234219" y="5045105"/>
            <a:ext cx="2197227" cy="519684"/>
            <a:chOff x="0" y="0"/>
            <a:chExt cx="2929636" cy="692912"/>
          </a:xfrm>
        </p:grpSpPr>
        <p:grpSp>
          <p:nvGrpSpPr>
            <p:cNvPr id="10" name="Group 10"/>
            <p:cNvGrpSpPr/>
            <p:nvPr/>
          </p:nvGrpSpPr>
          <p:grpSpPr>
            <a:xfrm>
              <a:off x="1522" y="1527"/>
              <a:ext cx="2926588" cy="689864"/>
              <a:chOff x="0" y="0"/>
              <a:chExt cx="2926588" cy="68986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509" y="8509"/>
                <a:ext cx="2913888" cy="677164"/>
              </a:xfrm>
              <a:custGeom>
                <a:avLst/>
                <a:gdLst/>
                <a:ahLst/>
                <a:cxnLst/>
                <a:rect l="l" t="t" r="r" b="b"/>
                <a:pathLst>
                  <a:path w="2913888" h="677164">
                    <a:moveTo>
                      <a:pt x="0" y="0"/>
                    </a:moveTo>
                    <a:lnTo>
                      <a:pt x="2913888" y="0"/>
                    </a:lnTo>
                    <a:lnTo>
                      <a:pt x="2913888" y="677164"/>
                    </a:lnTo>
                    <a:lnTo>
                      <a:pt x="0" y="677164"/>
                    </a:lnTo>
                    <a:close/>
                  </a:path>
                </a:pathLst>
              </a:custGeom>
              <a:solidFill>
                <a:srgbClr val="632523"/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0" y="0"/>
                <a:ext cx="2930906" cy="694182"/>
              </a:xfrm>
              <a:custGeom>
                <a:avLst/>
                <a:gdLst/>
                <a:ahLst/>
                <a:cxnLst/>
                <a:rect l="l" t="t" r="r" b="b"/>
                <a:pathLst>
                  <a:path w="2930906" h="694182">
                    <a:moveTo>
                      <a:pt x="8509" y="0"/>
                    </a:moveTo>
                    <a:lnTo>
                      <a:pt x="2922397" y="0"/>
                    </a:lnTo>
                    <a:cubicBezTo>
                      <a:pt x="2927096" y="0"/>
                      <a:pt x="2930906" y="3810"/>
                      <a:pt x="2930906" y="8509"/>
                    </a:cubicBezTo>
                    <a:lnTo>
                      <a:pt x="2930906" y="685673"/>
                    </a:lnTo>
                    <a:cubicBezTo>
                      <a:pt x="2930906" y="690372"/>
                      <a:pt x="2927096" y="694182"/>
                      <a:pt x="2922397" y="694182"/>
                    </a:cubicBezTo>
                    <a:lnTo>
                      <a:pt x="8509" y="694182"/>
                    </a:lnTo>
                    <a:cubicBezTo>
                      <a:pt x="3810" y="694182"/>
                      <a:pt x="0" y="690372"/>
                      <a:pt x="0" y="685673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685673"/>
                    </a:lnTo>
                    <a:lnTo>
                      <a:pt x="8509" y="685673"/>
                    </a:lnTo>
                    <a:lnTo>
                      <a:pt x="8509" y="677164"/>
                    </a:lnTo>
                    <a:lnTo>
                      <a:pt x="2922397" y="677164"/>
                    </a:lnTo>
                    <a:lnTo>
                      <a:pt x="2922397" y="685673"/>
                    </a:lnTo>
                    <a:lnTo>
                      <a:pt x="2913888" y="685673"/>
                    </a:lnTo>
                    <a:lnTo>
                      <a:pt x="2913888" y="8509"/>
                    </a:lnTo>
                    <a:lnTo>
                      <a:pt x="2922397" y="8509"/>
                    </a:lnTo>
                    <a:lnTo>
                      <a:pt x="2922397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id="13" name="Freeform 13"/>
            <p:cNvSpPr/>
            <p:nvPr/>
          </p:nvSpPr>
          <p:spPr>
            <a:xfrm>
              <a:off x="0" y="0"/>
              <a:ext cx="2929636" cy="692912"/>
            </a:xfrm>
            <a:custGeom>
              <a:avLst/>
              <a:gdLst/>
              <a:ahLst/>
              <a:cxnLst/>
              <a:rect l="l" t="t" r="r" b="b"/>
              <a:pathLst>
                <a:path w="2929636" h="692912">
                  <a:moveTo>
                    <a:pt x="0" y="0"/>
                  </a:moveTo>
                  <a:lnTo>
                    <a:pt x="2929636" y="0"/>
                  </a:lnTo>
                  <a:lnTo>
                    <a:pt x="2929636" y="692912"/>
                  </a:lnTo>
                  <a:lnTo>
                    <a:pt x="0" y="69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26402" y="85131"/>
              <a:ext cx="2778404" cy="536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Output folder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2088011" y="4493741"/>
            <a:ext cx="28907" cy="560890"/>
          </a:xfrm>
          <a:custGeom>
            <a:avLst/>
            <a:gdLst/>
            <a:ahLst/>
            <a:cxnLst/>
            <a:rect l="l" t="t" r="r" b="b"/>
            <a:pathLst>
              <a:path w="28907" h="560890">
                <a:moveTo>
                  <a:pt x="0" y="0"/>
                </a:moveTo>
                <a:lnTo>
                  <a:pt x="28907" y="0"/>
                </a:lnTo>
                <a:lnTo>
                  <a:pt x="28907" y="560889"/>
                </a:lnTo>
                <a:lnTo>
                  <a:pt x="0" y="560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3054469" y="2747142"/>
            <a:ext cx="28952" cy="496249"/>
          </a:xfrm>
          <a:custGeom>
            <a:avLst/>
            <a:gdLst/>
            <a:ahLst/>
            <a:cxnLst/>
            <a:rect l="l" t="t" r="r" b="b"/>
            <a:pathLst>
              <a:path w="28952" h="496249">
                <a:moveTo>
                  <a:pt x="0" y="0"/>
                </a:moveTo>
                <a:lnTo>
                  <a:pt x="28952" y="0"/>
                </a:lnTo>
                <a:lnTo>
                  <a:pt x="28952" y="496249"/>
                </a:lnTo>
                <a:lnTo>
                  <a:pt x="0" y="4962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2446881" y="2236983"/>
            <a:ext cx="1137475" cy="519684"/>
            <a:chOff x="0" y="0"/>
            <a:chExt cx="1516633" cy="692912"/>
          </a:xfrm>
        </p:grpSpPr>
        <p:grpSp>
          <p:nvGrpSpPr>
            <p:cNvPr id="18" name="Group 18"/>
            <p:cNvGrpSpPr/>
            <p:nvPr/>
          </p:nvGrpSpPr>
          <p:grpSpPr>
            <a:xfrm>
              <a:off x="1525" y="1522"/>
              <a:ext cx="1513586" cy="689864"/>
              <a:chOff x="0" y="0"/>
              <a:chExt cx="1513586" cy="68986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509" y="8509"/>
                <a:ext cx="1500886" cy="677164"/>
              </a:xfrm>
              <a:custGeom>
                <a:avLst/>
                <a:gdLst/>
                <a:ahLst/>
                <a:cxnLst/>
                <a:rect l="l" t="t" r="r" b="b"/>
                <a:pathLst>
                  <a:path w="1500886" h="677164">
                    <a:moveTo>
                      <a:pt x="0" y="0"/>
                    </a:moveTo>
                    <a:lnTo>
                      <a:pt x="1500886" y="0"/>
                    </a:lnTo>
                    <a:lnTo>
                      <a:pt x="1500886" y="677164"/>
                    </a:lnTo>
                    <a:lnTo>
                      <a:pt x="0" y="677164"/>
                    </a:lnTo>
                    <a:close/>
                  </a:path>
                </a:pathLst>
              </a:custGeom>
              <a:solidFill>
                <a:srgbClr val="632523"/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0" y="0"/>
                <a:ext cx="1517904" cy="694182"/>
              </a:xfrm>
              <a:custGeom>
                <a:avLst/>
                <a:gdLst/>
                <a:ahLst/>
                <a:cxnLst/>
                <a:rect l="l" t="t" r="r" b="b"/>
                <a:pathLst>
                  <a:path w="1517904" h="694182">
                    <a:moveTo>
                      <a:pt x="8509" y="0"/>
                    </a:moveTo>
                    <a:lnTo>
                      <a:pt x="1509395" y="0"/>
                    </a:lnTo>
                    <a:cubicBezTo>
                      <a:pt x="1514094" y="0"/>
                      <a:pt x="1517904" y="3810"/>
                      <a:pt x="1517904" y="8509"/>
                    </a:cubicBezTo>
                    <a:lnTo>
                      <a:pt x="1517904" y="685673"/>
                    </a:lnTo>
                    <a:cubicBezTo>
                      <a:pt x="1517904" y="690372"/>
                      <a:pt x="1514094" y="694182"/>
                      <a:pt x="1509395" y="694182"/>
                    </a:cubicBezTo>
                    <a:lnTo>
                      <a:pt x="8509" y="694182"/>
                    </a:lnTo>
                    <a:cubicBezTo>
                      <a:pt x="3810" y="694182"/>
                      <a:pt x="0" y="690372"/>
                      <a:pt x="0" y="685673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685673"/>
                    </a:lnTo>
                    <a:lnTo>
                      <a:pt x="8509" y="685673"/>
                    </a:lnTo>
                    <a:lnTo>
                      <a:pt x="8509" y="677164"/>
                    </a:lnTo>
                    <a:lnTo>
                      <a:pt x="1509395" y="677164"/>
                    </a:lnTo>
                    <a:lnTo>
                      <a:pt x="1509395" y="685673"/>
                    </a:lnTo>
                    <a:lnTo>
                      <a:pt x="1500886" y="685673"/>
                    </a:lnTo>
                    <a:lnTo>
                      <a:pt x="1500886" y="8509"/>
                    </a:lnTo>
                    <a:lnTo>
                      <a:pt x="1509395" y="8509"/>
                    </a:lnTo>
                    <a:lnTo>
                      <a:pt x="1509395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id="21" name="Freeform 21"/>
            <p:cNvSpPr/>
            <p:nvPr/>
          </p:nvSpPr>
          <p:spPr>
            <a:xfrm>
              <a:off x="0" y="0"/>
              <a:ext cx="1516633" cy="692912"/>
            </a:xfrm>
            <a:custGeom>
              <a:avLst/>
              <a:gdLst/>
              <a:ahLst/>
              <a:cxnLst/>
              <a:rect l="l" t="t" r="r" b="b"/>
              <a:pathLst>
                <a:path w="1516633" h="692912">
                  <a:moveTo>
                    <a:pt x="0" y="0"/>
                  </a:moveTo>
                  <a:lnTo>
                    <a:pt x="1516633" y="0"/>
                  </a:lnTo>
                  <a:lnTo>
                    <a:pt x="1516633" y="692912"/>
                  </a:lnTo>
                  <a:lnTo>
                    <a:pt x="0" y="69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75579" y="91510"/>
              <a:ext cx="1365479" cy="519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XML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256917" y="2236983"/>
            <a:ext cx="2931699" cy="519684"/>
            <a:chOff x="0" y="0"/>
            <a:chExt cx="3908932" cy="692912"/>
          </a:xfrm>
        </p:grpSpPr>
        <p:grpSp>
          <p:nvGrpSpPr>
            <p:cNvPr id="24" name="Group 24"/>
            <p:cNvGrpSpPr/>
            <p:nvPr/>
          </p:nvGrpSpPr>
          <p:grpSpPr>
            <a:xfrm>
              <a:off x="1523" y="1523"/>
              <a:ext cx="3905885" cy="689864"/>
              <a:chOff x="0" y="0"/>
              <a:chExt cx="3905885" cy="68986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509" y="8509"/>
                <a:ext cx="3893185" cy="677164"/>
              </a:xfrm>
              <a:custGeom>
                <a:avLst/>
                <a:gdLst/>
                <a:ahLst/>
                <a:cxnLst/>
                <a:rect l="l" t="t" r="r" b="b"/>
                <a:pathLst>
                  <a:path w="3893185" h="677164">
                    <a:moveTo>
                      <a:pt x="0" y="0"/>
                    </a:moveTo>
                    <a:lnTo>
                      <a:pt x="3893185" y="0"/>
                    </a:lnTo>
                    <a:lnTo>
                      <a:pt x="3893185" y="677164"/>
                    </a:lnTo>
                    <a:lnTo>
                      <a:pt x="0" y="677164"/>
                    </a:lnTo>
                    <a:close/>
                  </a:path>
                </a:pathLst>
              </a:custGeom>
              <a:solidFill>
                <a:srgbClr val="632523"/>
              </a:solidFill>
              <a:ln w="12700">
                <a:solidFill>
                  <a:srgbClr val="0000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0" y="0"/>
                <a:ext cx="3910203" cy="694182"/>
              </a:xfrm>
              <a:custGeom>
                <a:avLst/>
                <a:gdLst/>
                <a:ahLst/>
                <a:cxnLst/>
                <a:rect l="l" t="t" r="r" b="b"/>
                <a:pathLst>
                  <a:path w="3910203" h="694182">
                    <a:moveTo>
                      <a:pt x="8509" y="0"/>
                    </a:moveTo>
                    <a:lnTo>
                      <a:pt x="3901694" y="0"/>
                    </a:lnTo>
                    <a:cubicBezTo>
                      <a:pt x="3906393" y="0"/>
                      <a:pt x="3910203" y="3810"/>
                      <a:pt x="3910203" y="8509"/>
                    </a:cubicBezTo>
                    <a:lnTo>
                      <a:pt x="3910203" y="685673"/>
                    </a:lnTo>
                    <a:cubicBezTo>
                      <a:pt x="3910203" y="690372"/>
                      <a:pt x="3906393" y="694182"/>
                      <a:pt x="3901694" y="694182"/>
                    </a:cubicBezTo>
                    <a:lnTo>
                      <a:pt x="8509" y="694182"/>
                    </a:lnTo>
                    <a:cubicBezTo>
                      <a:pt x="3810" y="694182"/>
                      <a:pt x="0" y="690372"/>
                      <a:pt x="0" y="685673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moveTo>
                      <a:pt x="8509" y="16891"/>
                    </a:move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685673"/>
                    </a:lnTo>
                    <a:lnTo>
                      <a:pt x="8509" y="685673"/>
                    </a:lnTo>
                    <a:lnTo>
                      <a:pt x="8509" y="677164"/>
                    </a:lnTo>
                    <a:lnTo>
                      <a:pt x="3901694" y="677164"/>
                    </a:lnTo>
                    <a:lnTo>
                      <a:pt x="3901694" y="685673"/>
                    </a:lnTo>
                    <a:lnTo>
                      <a:pt x="3893185" y="685673"/>
                    </a:lnTo>
                    <a:lnTo>
                      <a:pt x="3893185" y="8509"/>
                    </a:lnTo>
                    <a:lnTo>
                      <a:pt x="3901694" y="8509"/>
                    </a:lnTo>
                    <a:lnTo>
                      <a:pt x="3901694" y="17018"/>
                    </a:lnTo>
                    <a:lnTo>
                      <a:pt x="8509" y="17018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id="27" name="Freeform 27"/>
            <p:cNvSpPr/>
            <p:nvPr/>
          </p:nvSpPr>
          <p:spPr>
            <a:xfrm>
              <a:off x="0" y="0"/>
              <a:ext cx="3908932" cy="692912"/>
            </a:xfrm>
            <a:custGeom>
              <a:avLst/>
              <a:gdLst/>
              <a:ahLst/>
              <a:cxnLst/>
              <a:rect l="l" t="t" r="r" b="b"/>
              <a:pathLst>
                <a:path w="3908932" h="692912">
                  <a:moveTo>
                    <a:pt x="0" y="0"/>
                  </a:moveTo>
                  <a:lnTo>
                    <a:pt x="3908932" y="0"/>
                  </a:lnTo>
                  <a:lnTo>
                    <a:pt x="3908932" y="692912"/>
                  </a:lnTo>
                  <a:lnTo>
                    <a:pt x="0" y="69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151192" y="77801"/>
              <a:ext cx="3757740" cy="519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EB Garamond Semi-Bold"/>
                  <a:ea typeface="EB Garamond Semi-Bold"/>
                  <a:cs typeface="EB Garamond Semi-Bold"/>
                  <a:sym typeface="EB Garamond Semi-Bold"/>
                </a:rPr>
                <a:t>Number of papers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9893" y="290308"/>
            <a:ext cx="9469839" cy="814592"/>
            <a:chOff x="0" y="0"/>
            <a:chExt cx="2494114" cy="21454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809057" y="403138"/>
            <a:ext cx="7635046" cy="561720"/>
            <a:chOff x="0" y="0"/>
            <a:chExt cx="2010876" cy="14794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010876" cy="147943"/>
            </a:xfrm>
            <a:custGeom>
              <a:avLst/>
              <a:gdLst/>
              <a:ahLst/>
              <a:cxnLst/>
              <a:rect l="l" t="t" r="r" b="b"/>
              <a:pathLst>
                <a:path w="2010876" h="147943">
                  <a:moveTo>
                    <a:pt x="73971" y="0"/>
                  </a:moveTo>
                  <a:lnTo>
                    <a:pt x="1936905" y="0"/>
                  </a:lnTo>
                  <a:cubicBezTo>
                    <a:pt x="1956523" y="0"/>
                    <a:pt x="1975338" y="7793"/>
                    <a:pt x="1989211" y="21666"/>
                  </a:cubicBezTo>
                  <a:cubicBezTo>
                    <a:pt x="2003083" y="35538"/>
                    <a:pt x="2010876" y="54353"/>
                    <a:pt x="2010876" y="73971"/>
                  </a:cubicBezTo>
                  <a:lnTo>
                    <a:pt x="2010876" y="73971"/>
                  </a:lnTo>
                  <a:cubicBezTo>
                    <a:pt x="2010876" y="114825"/>
                    <a:pt x="1977758" y="147943"/>
                    <a:pt x="1936905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2010876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809057" y="507485"/>
            <a:ext cx="7634756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QUERYING PYGETPAPERS IN COLAB NOTEBOOK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24300" y="3093516"/>
            <a:ext cx="16735202" cy="13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4"/>
              </a:lnSpc>
            </a:pPr>
            <a:r>
              <a:rPr lang="en-US" sz="281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!pygetpapers --query </a:t>
            </a:r>
            <a:r>
              <a:rPr lang="en-US" sz="2812" b="1">
                <a:solidFill>
                  <a:srgbClr val="C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'"drug discovery" AND "medicinal plants"'</a:t>
            </a:r>
            <a:r>
              <a:rPr lang="en-US" sz="281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--xml --limit 50 --startdate "2010-01-01" --enddate "2025-10-31" --output drug_discovery --save_query</a:t>
            </a:r>
          </a:p>
        </p:txBody>
      </p:sp>
      <p:sp>
        <p:nvSpPr>
          <p:cNvPr id="37" name="Freeform 37"/>
          <p:cNvSpPr/>
          <p:nvPr/>
        </p:nvSpPr>
        <p:spPr>
          <a:xfrm>
            <a:off x="14720675" y="2747142"/>
            <a:ext cx="28952" cy="496249"/>
          </a:xfrm>
          <a:custGeom>
            <a:avLst/>
            <a:gdLst/>
            <a:ahLst/>
            <a:cxnLst/>
            <a:rect l="l" t="t" r="r" b="b"/>
            <a:pathLst>
              <a:path w="28952" h="496249">
                <a:moveTo>
                  <a:pt x="0" y="0"/>
                </a:moveTo>
                <a:lnTo>
                  <a:pt x="28952" y="0"/>
                </a:lnTo>
                <a:lnTo>
                  <a:pt x="28952" y="496249"/>
                </a:lnTo>
                <a:lnTo>
                  <a:pt x="0" y="4962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38" name="Group 38"/>
          <p:cNvGrpSpPr/>
          <p:nvPr/>
        </p:nvGrpSpPr>
        <p:grpSpPr>
          <a:xfrm>
            <a:off x="5138652" y="5045105"/>
            <a:ext cx="1936811" cy="588280"/>
            <a:chOff x="0" y="0"/>
            <a:chExt cx="2271257" cy="689864"/>
          </a:xfrm>
        </p:grpSpPr>
        <p:sp>
          <p:nvSpPr>
            <p:cNvPr id="39" name="Freeform 39"/>
            <p:cNvSpPr/>
            <p:nvPr/>
          </p:nvSpPr>
          <p:spPr>
            <a:xfrm>
              <a:off x="6604" y="8509"/>
              <a:ext cx="2261401" cy="677164"/>
            </a:xfrm>
            <a:custGeom>
              <a:avLst/>
              <a:gdLst/>
              <a:ahLst/>
              <a:cxnLst/>
              <a:rect l="l" t="t" r="r" b="b"/>
              <a:pathLst>
                <a:path w="2261401" h="677164">
                  <a:moveTo>
                    <a:pt x="0" y="0"/>
                  </a:moveTo>
                  <a:lnTo>
                    <a:pt x="2261400" y="0"/>
                  </a:lnTo>
                  <a:lnTo>
                    <a:pt x="2261400" y="677164"/>
                  </a:lnTo>
                  <a:lnTo>
                    <a:pt x="0" y="677164"/>
                  </a:lnTo>
                  <a:close/>
                </a:path>
              </a:pathLst>
            </a:custGeom>
            <a:solidFill>
              <a:srgbClr val="632523"/>
            </a:solidFill>
            <a:ln w="12700">
              <a:solidFill>
                <a:srgbClr val="000000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2275575" cy="694182"/>
            </a:xfrm>
            <a:custGeom>
              <a:avLst/>
              <a:gdLst/>
              <a:ahLst/>
              <a:cxnLst/>
              <a:rect l="l" t="t" r="r" b="b"/>
              <a:pathLst>
                <a:path w="2275575" h="694182">
                  <a:moveTo>
                    <a:pt x="6604" y="0"/>
                  </a:moveTo>
                  <a:lnTo>
                    <a:pt x="2268004" y="0"/>
                  </a:lnTo>
                  <a:cubicBezTo>
                    <a:pt x="2271765" y="0"/>
                    <a:pt x="2275575" y="3810"/>
                    <a:pt x="2275575" y="8509"/>
                  </a:cubicBezTo>
                  <a:lnTo>
                    <a:pt x="2275575" y="685673"/>
                  </a:lnTo>
                  <a:cubicBezTo>
                    <a:pt x="2275575" y="690372"/>
                    <a:pt x="2271765" y="694182"/>
                    <a:pt x="2268004" y="694182"/>
                  </a:cubicBezTo>
                  <a:lnTo>
                    <a:pt x="6604" y="694182"/>
                  </a:lnTo>
                  <a:cubicBezTo>
                    <a:pt x="2957" y="694182"/>
                    <a:pt x="0" y="690372"/>
                    <a:pt x="0" y="685673"/>
                  </a:cubicBezTo>
                  <a:lnTo>
                    <a:pt x="0" y="8509"/>
                  </a:lnTo>
                  <a:cubicBezTo>
                    <a:pt x="0" y="3810"/>
                    <a:pt x="2957" y="0"/>
                    <a:pt x="6604" y="0"/>
                  </a:cubicBezTo>
                  <a:moveTo>
                    <a:pt x="6604" y="16891"/>
                  </a:moveTo>
                  <a:lnTo>
                    <a:pt x="6604" y="8509"/>
                  </a:lnTo>
                  <a:lnTo>
                    <a:pt x="13207" y="8509"/>
                  </a:lnTo>
                  <a:lnTo>
                    <a:pt x="13207" y="685673"/>
                  </a:lnTo>
                  <a:lnTo>
                    <a:pt x="6604" y="685673"/>
                  </a:lnTo>
                  <a:lnTo>
                    <a:pt x="6604" y="677164"/>
                  </a:lnTo>
                  <a:lnTo>
                    <a:pt x="2268004" y="677164"/>
                  </a:lnTo>
                  <a:lnTo>
                    <a:pt x="2268004" y="685673"/>
                  </a:lnTo>
                  <a:lnTo>
                    <a:pt x="2261401" y="685673"/>
                  </a:lnTo>
                  <a:lnTo>
                    <a:pt x="2261401" y="8509"/>
                  </a:lnTo>
                  <a:lnTo>
                    <a:pt x="2268004" y="8509"/>
                  </a:lnTo>
                  <a:lnTo>
                    <a:pt x="2268004" y="17018"/>
                  </a:lnTo>
                  <a:lnTo>
                    <a:pt x="6604" y="17018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1" name="Freeform 41"/>
          <p:cNvSpPr/>
          <p:nvPr/>
        </p:nvSpPr>
        <p:spPr>
          <a:xfrm>
            <a:off x="6078150" y="4519106"/>
            <a:ext cx="28907" cy="560890"/>
          </a:xfrm>
          <a:custGeom>
            <a:avLst/>
            <a:gdLst/>
            <a:ahLst/>
            <a:cxnLst/>
            <a:rect l="l" t="t" r="r" b="b"/>
            <a:pathLst>
              <a:path w="28907" h="560890">
                <a:moveTo>
                  <a:pt x="0" y="0"/>
                </a:moveTo>
                <a:lnTo>
                  <a:pt x="28907" y="0"/>
                </a:lnTo>
                <a:lnTo>
                  <a:pt x="28907" y="560890"/>
                </a:lnTo>
                <a:lnTo>
                  <a:pt x="0" y="560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42" name="TextBox 42"/>
          <p:cNvSpPr txBox="1"/>
          <p:nvPr/>
        </p:nvSpPr>
        <p:spPr>
          <a:xfrm>
            <a:off x="5407101" y="5142231"/>
            <a:ext cx="1371005" cy="35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6"/>
              </a:lnSpc>
              <a:spcBef>
                <a:spcPct val="0"/>
              </a:spcBef>
            </a:pPr>
            <a:r>
              <a:rPr lang="en-US" sz="2112" b="1">
                <a:solidFill>
                  <a:srgbClr val="F4F4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timeframe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7161" y="14790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55972" y="260731"/>
            <a:ext cx="6575032" cy="561720"/>
            <a:chOff x="0" y="0"/>
            <a:chExt cx="1731696" cy="1479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1696" cy="147943"/>
            </a:xfrm>
            <a:custGeom>
              <a:avLst/>
              <a:gdLst/>
              <a:ahLst/>
              <a:cxnLst/>
              <a:rect l="l" t="t" r="r" b="b"/>
              <a:pathLst>
                <a:path w="1731696" h="147943">
                  <a:moveTo>
                    <a:pt x="73971" y="0"/>
                  </a:moveTo>
                  <a:lnTo>
                    <a:pt x="1657724" y="0"/>
                  </a:lnTo>
                  <a:cubicBezTo>
                    <a:pt x="1677343" y="0"/>
                    <a:pt x="1696158" y="7793"/>
                    <a:pt x="1710030" y="21666"/>
                  </a:cubicBezTo>
                  <a:cubicBezTo>
                    <a:pt x="1723902" y="35538"/>
                    <a:pt x="1731696" y="54353"/>
                    <a:pt x="1731696" y="73971"/>
                  </a:cubicBezTo>
                  <a:lnTo>
                    <a:pt x="1731696" y="73971"/>
                  </a:lnTo>
                  <a:cubicBezTo>
                    <a:pt x="1731696" y="114825"/>
                    <a:pt x="1698578" y="147943"/>
                    <a:pt x="1657724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31696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920011" y="2875685"/>
            <a:ext cx="5101661" cy="5999553"/>
          </a:xfrm>
          <a:custGeom>
            <a:avLst/>
            <a:gdLst/>
            <a:ahLst/>
            <a:cxnLst/>
            <a:rect l="l" t="t" r="r" b="b"/>
            <a:pathLst>
              <a:path w="5101661" h="5999553">
                <a:moveTo>
                  <a:pt x="0" y="0"/>
                </a:moveTo>
                <a:lnTo>
                  <a:pt x="5101661" y="0"/>
                </a:lnTo>
                <a:lnTo>
                  <a:pt x="5101661" y="5999554"/>
                </a:lnTo>
                <a:lnTo>
                  <a:pt x="0" y="5999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28575" cap="sq">
            <a:solidFill>
              <a:srgbClr val="2CAE22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2603647" y="2707485"/>
            <a:ext cx="4655653" cy="5999553"/>
          </a:xfrm>
          <a:custGeom>
            <a:avLst/>
            <a:gdLst/>
            <a:ahLst/>
            <a:cxnLst/>
            <a:rect l="l" t="t" r="r" b="b"/>
            <a:pathLst>
              <a:path w="4655653" h="5999553">
                <a:moveTo>
                  <a:pt x="0" y="0"/>
                </a:moveTo>
                <a:lnTo>
                  <a:pt x="4655653" y="0"/>
                </a:lnTo>
                <a:lnTo>
                  <a:pt x="4655653" y="5999553"/>
                </a:lnTo>
                <a:lnTo>
                  <a:pt x="0" y="5999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28575" cap="sq">
            <a:solidFill>
              <a:srgbClr val="D14617"/>
            </a:solidFill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1556961">
            <a:off x="2763767" y="3973289"/>
            <a:ext cx="2312489" cy="699528"/>
          </a:xfrm>
          <a:custGeom>
            <a:avLst/>
            <a:gdLst/>
            <a:ahLst/>
            <a:cxnLst/>
            <a:rect l="l" t="t" r="r" b="b"/>
            <a:pathLst>
              <a:path w="2312489" h="699528">
                <a:moveTo>
                  <a:pt x="0" y="0"/>
                </a:moveTo>
                <a:lnTo>
                  <a:pt x="2312489" y="0"/>
                </a:lnTo>
                <a:lnTo>
                  <a:pt x="2312489" y="699528"/>
                </a:lnTo>
                <a:lnTo>
                  <a:pt x="0" y="699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226454" y="4505842"/>
            <a:ext cx="1953928" cy="957425"/>
          </a:xfrm>
          <a:custGeom>
            <a:avLst/>
            <a:gdLst/>
            <a:ahLst/>
            <a:cxnLst/>
            <a:rect l="l" t="t" r="r" b="b"/>
            <a:pathLst>
              <a:path w="1953928" h="957425">
                <a:moveTo>
                  <a:pt x="0" y="0"/>
                </a:moveTo>
                <a:lnTo>
                  <a:pt x="1953927" y="0"/>
                </a:lnTo>
                <a:lnTo>
                  <a:pt x="1953927" y="957425"/>
                </a:lnTo>
                <a:lnTo>
                  <a:pt x="0" y="9574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124285" y="365078"/>
            <a:ext cx="5983331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 : SEMANTIC CORPUS FOR THE QUERY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70842" y="1314031"/>
            <a:ext cx="8311958" cy="984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sz="2868" b="1" dirty="0">
                <a:solidFill>
                  <a:srgbClr val="62134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Query: </a:t>
            </a:r>
          </a:p>
          <a:p>
            <a:pPr algn="ctr">
              <a:lnSpc>
                <a:spcPts val="4016"/>
              </a:lnSpc>
              <a:spcBef>
                <a:spcPct val="0"/>
              </a:spcBef>
            </a:pPr>
            <a:r>
              <a:rPr lang="en-US" sz="2868" b="1" dirty="0">
                <a:solidFill>
                  <a:srgbClr val="AD4D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"drug discovery" AND "medicinal plants"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74" y="3361387"/>
            <a:ext cx="3554440" cy="1144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</a:pPr>
            <a:r>
              <a:rPr lang="en-US" sz="3317" b="1" dirty="0">
                <a:solidFill>
                  <a:srgbClr val="19601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: </a:t>
            </a:r>
          </a:p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 dirty="0" err="1">
                <a:solidFill>
                  <a:srgbClr val="62134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drug_discovery</a:t>
            </a:r>
            <a:endParaRPr lang="en-US" sz="3317" b="1" dirty="0">
              <a:solidFill>
                <a:srgbClr val="621344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231317" y="4652879"/>
            <a:ext cx="3062079" cy="767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sz="2214" b="1" dirty="0">
                <a:solidFill>
                  <a:srgbClr val="6325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Summary table </a:t>
            </a:r>
          </a:p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sz="2214" b="1" dirty="0">
                <a:solidFill>
                  <a:srgbClr val="6325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(Semantic Index)</a:t>
            </a:r>
          </a:p>
        </p:txBody>
      </p:sp>
      <p:sp>
        <p:nvSpPr>
          <p:cNvPr id="16" name="Freeform 16"/>
          <p:cNvSpPr/>
          <p:nvPr/>
        </p:nvSpPr>
        <p:spPr>
          <a:xfrm rot="1556961">
            <a:off x="11501690" y="5788576"/>
            <a:ext cx="2643415" cy="799633"/>
          </a:xfrm>
          <a:custGeom>
            <a:avLst/>
            <a:gdLst/>
            <a:ahLst/>
            <a:cxnLst/>
            <a:rect l="l" t="t" r="r" b="b"/>
            <a:pathLst>
              <a:path w="2643415" h="799633">
                <a:moveTo>
                  <a:pt x="0" y="0"/>
                </a:moveTo>
                <a:lnTo>
                  <a:pt x="2643415" y="0"/>
                </a:lnTo>
                <a:lnTo>
                  <a:pt x="2643415" y="799633"/>
                </a:lnTo>
                <a:lnTo>
                  <a:pt x="0" y="7996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954509" y="6447285"/>
            <a:ext cx="1953928" cy="957425"/>
          </a:xfrm>
          <a:custGeom>
            <a:avLst/>
            <a:gdLst/>
            <a:ahLst/>
            <a:cxnLst/>
            <a:rect l="l" t="t" r="r" b="b"/>
            <a:pathLst>
              <a:path w="1953928" h="957425">
                <a:moveTo>
                  <a:pt x="0" y="0"/>
                </a:moveTo>
                <a:lnTo>
                  <a:pt x="1953928" y="0"/>
                </a:lnTo>
                <a:lnTo>
                  <a:pt x="1953928" y="957425"/>
                </a:lnTo>
                <a:lnTo>
                  <a:pt x="0" y="9574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9406" y="3752340"/>
            <a:ext cx="15709188" cy="6224766"/>
          </a:xfrm>
          <a:custGeom>
            <a:avLst/>
            <a:gdLst/>
            <a:ahLst/>
            <a:cxnLst/>
            <a:rect l="l" t="t" r="r" b="b"/>
            <a:pathLst>
              <a:path w="15709188" h="6224766">
                <a:moveTo>
                  <a:pt x="0" y="0"/>
                </a:moveTo>
                <a:lnTo>
                  <a:pt x="15709188" y="0"/>
                </a:lnTo>
                <a:lnTo>
                  <a:pt x="15709188" y="6224766"/>
                </a:lnTo>
                <a:lnTo>
                  <a:pt x="0" y="6224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28575" cap="sq">
            <a:solidFill>
              <a:srgbClr val="38B6FF"/>
            </a:solidFill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0587620" y="1190115"/>
            <a:ext cx="5678538" cy="194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7044" lvl="3" indent="-151761" algn="l">
              <a:lnSpc>
                <a:spcPts val="3113"/>
              </a:lnSpc>
              <a:buFont typeface="Arial"/>
              <a:buChar char="￭"/>
            </a:pPr>
            <a:r>
              <a:rPr lang="en-US" sz="2223" b="1">
                <a:solidFill>
                  <a:srgbClr val="6325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PMCID (for Europe PMC)</a:t>
            </a:r>
          </a:p>
          <a:p>
            <a:pPr marL="607044" lvl="3" indent="-151761" algn="l">
              <a:lnSpc>
                <a:spcPts val="3113"/>
              </a:lnSpc>
              <a:buFont typeface="Arial"/>
              <a:buChar char="￭"/>
            </a:pPr>
            <a:r>
              <a:rPr lang="en-US" sz="2223" b="1">
                <a:solidFill>
                  <a:srgbClr val="6325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DOI, </a:t>
            </a:r>
          </a:p>
          <a:p>
            <a:pPr marL="607044" lvl="3" indent="-151761" algn="l">
              <a:lnSpc>
                <a:spcPts val="3113"/>
              </a:lnSpc>
              <a:buFont typeface="Arial"/>
              <a:buChar char="￭"/>
            </a:pPr>
            <a:r>
              <a:rPr lang="en-US" sz="2223" b="1">
                <a:solidFill>
                  <a:srgbClr val="6325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Title, </a:t>
            </a:r>
          </a:p>
          <a:p>
            <a:pPr marL="607044" lvl="3" indent="-151761" algn="l">
              <a:lnSpc>
                <a:spcPts val="3113"/>
              </a:lnSpc>
              <a:buFont typeface="Arial"/>
              <a:buChar char="￭"/>
            </a:pPr>
            <a:r>
              <a:rPr lang="en-US" sz="2223" b="1">
                <a:solidFill>
                  <a:srgbClr val="6325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Authors, </a:t>
            </a:r>
          </a:p>
          <a:p>
            <a:pPr marL="607044" lvl="3" indent="-151761" algn="l">
              <a:lnSpc>
                <a:spcPts val="3113"/>
              </a:lnSpc>
              <a:buFont typeface="Arial"/>
              <a:buChar char="￭"/>
            </a:pPr>
            <a:r>
              <a:rPr lang="en-US" sz="2223" b="1">
                <a:solidFill>
                  <a:srgbClr val="6325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Journal name etc...............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48400" y="1741805"/>
            <a:ext cx="4215503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9601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Datatable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97161" y="147901"/>
            <a:ext cx="9469839" cy="814592"/>
            <a:chOff x="0" y="0"/>
            <a:chExt cx="2494114" cy="214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75865" y="260731"/>
            <a:ext cx="6055139" cy="561720"/>
            <a:chOff x="0" y="0"/>
            <a:chExt cx="1594769" cy="1479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94769" cy="147943"/>
            </a:xfrm>
            <a:custGeom>
              <a:avLst/>
              <a:gdLst/>
              <a:ahLst/>
              <a:cxnLst/>
              <a:rect l="l" t="t" r="r" b="b"/>
              <a:pathLst>
                <a:path w="1594769" h="147943">
                  <a:moveTo>
                    <a:pt x="73971" y="0"/>
                  </a:moveTo>
                  <a:lnTo>
                    <a:pt x="1520798" y="0"/>
                  </a:lnTo>
                  <a:cubicBezTo>
                    <a:pt x="1540416" y="0"/>
                    <a:pt x="1559231" y="7793"/>
                    <a:pt x="1573103" y="21666"/>
                  </a:cubicBezTo>
                  <a:cubicBezTo>
                    <a:pt x="1586976" y="35538"/>
                    <a:pt x="1594769" y="54353"/>
                    <a:pt x="1594769" y="73971"/>
                  </a:cubicBezTo>
                  <a:lnTo>
                    <a:pt x="1594769" y="73971"/>
                  </a:lnTo>
                  <a:cubicBezTo>
                    <a:pt x="1594769" y="114825"/>
                    <a:pt x="1561651" y="147943"/>
                    <a:pt x="1520798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94769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90051" y="365078"/>
            <a:ext cx="5417565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SEMANTIC INDEX OF THE CORPUS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7161" y="147901"/>
            <a:ext cx="9469839" cy="814592"/>
            <a:chOff x="0" y="0"/>
            <a:chExt cx="2494114" cy="214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34974" y="260731"/>
            <a:ext cx="6472642" cy="561720"/>
            <a:chOff x="0" y="0"/>
            <a:chExt cx="1704729" cy="1479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04729" cy="147943"/>
            </a:xfrm>
            <a:custGeom>
              <a:avLst/>
              <a:gdLst/>
              <a:ahLst/>
              <a:cxnLst/>
              <a:rect l="l" t="t" r="r" b="b"/>
              <a:pathLst>
                <a:path w="1704729" h="147943">
                  <a:moveTo>
                    <a:pt x="73971" y="0"/>
                  </a:moveTo>
                  <a:lnTo>
                    <a:pt x="1630758" y="0"/>
                  </a:lnTo>
                  <a:cubicBezTo>
                    <a:pt x="1650376" y="0"/>
                    <a:pt x="1669191" y="7793"/>
                    <a:pt x="1683063" y="21666"/>
                  </a:cubicBezTo>
                  <a:cubicBezTo>
                    <a:pt x="1696936" y="35538"/>
                    <a:pt x="1704729" y="54353"/>
                    <a:pt x="1704729" y="73971"/>
                  </a:cubicBezTo>
                  <a:lnTo>
                    <a:pt x="1704729" y="73971"/>
                  </a:lnTo>
                  <a:cubicBezTo>
                    <a:pt x="1704729" y="114825"/>
                    <a:pt x="1671611" y="147943"/>
                    <a:pt x="1630758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04729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00054" y="1524888"/>
            <a:ext cx="6935141" cy="3508019"/>
          </a:xfrm>
          <a:custGeom>
            <a:avLst/>
            <a:gdLst/>
            <a:ahLst/>
            <a:cxnLst/>
            <a:rect l="l" t="t" r="r" b="b"/>
            <a:pathLst>
              <a:path w="6935141" h="3508019">
                <a:moveTo>
                  <a:pt x="0" y="0"/>
                </a:moveTo>
                <a:lnTo>
                  <a:pt x="6935141" y="0"/>
                </a:lnTo>
                <a:lnTo>
                  <a:pt x="6935141" y="3508019"/>
                </a:lnTo>
                <a:lnTo>
                  <a:pt x="0" y="3508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0719575" y="1598400"/>
            <a:ext cx="6539725" cy="3269863"/>
          </a:xfrm>
          <a:custGeom>
            <a:avLst/>
            <a:gdLst/>
            <a:ahLst/>
            <a:cxnLst/>
            <a:rect l="l" t="t" r="r" b="b"/>
            <a:pathLst>
              <a:path w="6539725" h="3269863">
                <a:moveTo>
                  <a:pt x="0" y="0"/>
                </a:moveTo>
                <a:lnTo>
                  <a:pt x="6539725" y="0"/>
                </a:lnTo>
                <a:lnTo>
                  <a:pt x="6539725" y="3269863"/>
                </a:lnTo>
                <a:lnTo>
                  <a:pt x="0" y="32698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5488945" y="5671082"/>
            <a:ext cx="6978799" cy="3489399"/>
          </a:xfrm>
          <a:custGeom>
            <a:avLst/>
            <a:gdLst/>
            <a:ahLst/>
            <a:cxnLst/>
            <a:rect l="l" t="t" r="r" b="b"/>
            <a:pathLst>
              <a:path w="6978799" h="3489399">
                <a:moveTo>
                  <a:pt x="0" y="0"/>
                </a:moveTo>
                <a:lnTo>
                  <a:pt x="6978798" y="0"/>
                </a:lnTo>
                <a:lnTo>
                  <a:pt x="6978798" y="3489399"/>
                </a:lnTo>
                <a:lnTo>
                  <a:pt x="0" y="34893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1634974" y="365078"/>
            <a:ext cx="6472642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EXTRACTED ENTITIES FROM THE LITERATURE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05001" y="5048250"/>
            <a:ext cx="2619188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01B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Drugs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49008" y="4937657"/>
            <a:ext cx="3514991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Diseases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0734" y="9027074"/>
            <a:ext cx="3455865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01B4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42750" y="2337722"/>
            <a:ext cx="7047156" cy="6254075"/>
            <a:chOff x="0" y="0"/>
            <a:chExt cx="1856041" cy="16471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56041" cy="1647164"/>
            </a:xfrm>
            <a:custGeom>
              <a:avLst/>
              <a:gdLst/>
              <a:ahLst/>
              <a:cxnLst/>
              <a:rect l="l" t="t" r="r" b="b"/>
              <a:pathLst>
                <a:path w="1856041" h="1647164">
                  <a:moveTo>
                    <a:pt x="56028" y="0"/>
                  </a:moveTo>
                  <a:lnTo>
                    <a:pt x="1800013" y="0"/>
                  </a:lnTo>
                  <a:cubicBezTo>
                    <a:pt x="1830957" y="0"/>
                    <a:pt x="1856041" y="25085"/>
                    <a:pt x="1856041" y="56028"/>
                  </a:cubicBezTo>
                  <a:lnTo>
                    <a:pt x="1856041" y="1591136"/>
                  </a:lnTo>
                  <a:cubicBezTo>
                    <a:pt x="1856041" y="1605995"/>
                    <a:pt x="1850138" y="1620246"/>
                    <a:pt x="1839631" y="1630754"/>
                  </a:cubicBezTo>
                  <a:cubicBezTo>
                    <a:pt x="1829124" y="1641261"/>
                    <a:pt x="1814873" y="1647164"/>
                    <a:pt x="1800013" y="1647164"/>
                  </a:cubicBezTo>
                  <a:lnTo>
                    <a:pt x="56028" y="1647164"/>
                  </a:lnTo>
                  <a:cubicBezTo>
                    <a:pt x="41168" y="1647164"/>
                    <a:pt x="26918" y="1641261"/>
                    <a:pt x="16410" y="1630754"/>
                  </a:cubicBezTo>
                  <a:cubicBezTo>
                    <a:pt x="5903" y="1620246"/>
                    <a:pt x="0" y="1605995"/>
                    <a:pt x="0" y="1591136"/>
                  </a:cubicBezTo>
                  <a:lnTo>
                    <a:pt x="0" y="56028"/>
                  </a:lnTo>
                  <a:cubicBezTo>
                    <a:pt x="0" y="41168"/>
                    <a:pt x="5903" y="26918"/>
                    <a:pt x="16410" y="16410"/>
                  </a:cubicBezTo>
                  <a:cubicBezTo>
                    <a:pt x="26918" y="5903"/>
                    <a:pt x="41168" y="0"/>
                    <a:pt x="56028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56041" cy="1685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938362" y="4063182"/>
            <a:ext cx="2160637" cy="2160637"/>
          </a:xfrm>
          <a:custGeom>
            <a:avLst/>
            <a:gdLst/>
            <a:ahLst/>
            <a:cxnLst/>
            <a:rect l="l" t="t" r="r" b="b"/>
            <a:pathLst>
              <a:path w="2160637" h="2160637">
                <a:moveTo>
                  <a:pt x="0" y="0"/>
                </a:moveTo>
                <a:lnTo>
                  <a:pt x="2160637" y="0"/>
                </a:lnTo>
                <a:lnTo>
                  <a:pt x="2160637" y="2160636"/>
                </a:lnTo>
                <a:lnTo>
                  <a:pt x="0" y="21606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437079" y="4632530"/>
            <a:ext cx="10012721" cy="832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145"/>
              </a:lnSpc>
            </a:pPr>
            <a:r>
              <a:rPr lang="en-US" sz="6827" b="1" spc="-396" dirty="0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Platform to run the tool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545190" y="5838986"/>
            <a:ext cx="7036069" cy="666750"/>
            <a:chOff x="0" y="0"/>
            <a:chExt cx="1853121" cy="1756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53121" cy="175605"/>
            </a:xfrm>
            <a:custGeom>
              <a:avLst/>
              <a:gdLst/>
              <a:ahLst/>
              <a:cxnLst/>
              <a:rect l="l" t="t" r="r" b="b"/>
              <a:pathLst>
                <a:path w="1853121" h="175605">
                  <a:moveTo>
                    <a:pt x="56116" y="0"/>
                  </a:moveTo>
                  <a:lnTo>
                    <a:pt x="1797005" y="0"/>
                  </a:lnTo>
                  <a:cubicBezTo>
                    <a:pt x="1827997" y="0"/>
                    <a:pt x="1853121" y="25124"/>
                    <a:pt x="1853121" y="56116"/>
                  </a:cubicBezTo>
                  <a:lnTo>
                    <a:pt x="1853121" y="119489"/>
                  </a:lnTo>
                  <a:cubicBezTo>
                    <a:pt x="1853121" y="150481"/>
                    <a:pt x="1827997" y="175605"/>
                    <a:pt x="1797005" y="175605"/>
                  </a:cubicBezTo>
                  <a:lnTo>
                    <a:pt x="56116" y="175605"/>
                  </a:lnTo>
                  <a:cubicBezTo>
                    <a:pt x="25124" y="175605"/>
                    <a:pt x="0" y="150481"/>
                    <a:pt x="0" y="119489"/>
                  </a:cubicBezTo>
                  <a:lnTo>
                    <a:pt x="0" y="56116"/>
                  </a:lnTo>
                  <a:cubicBezTo>
                    <a:pt x="0" y="25124"/>
                    <a:pt x="25124" y="0"/>
                    <a:pt x="561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53121" cy="2137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702597" y="7720638"/>
            <a:ext cx="1602254" cy="1602254"/>
          </a:xfrm>
          <a:custGeom>
            <a:avLst/>
            <a:gdLst/>
            <a:ahLst/>
            <a:cxnLst/>
            <a:rect l="l" t="t" r="r" b="b"/>
            <a:pathLst>
              <a:path w="1602254" h="1602254">
                <a:moveTo>
                  <a:pt x="0" y="0"/>
                </a:moveTo>
                <a:lnTo>
                  <a:pt x="1602254" y="0"/>
                </a:lnTo>
                <a:lnTo>
                  <a:pt x="1602254" y="1602254"/>
                </a:lnTo>
                <a:lnTo>
                  <a:pt x="0" y="1602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735084" y="5838986"/>
            <a:ext cx="7154664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E46C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Colab Notebook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467337" y="6505736"/>
            <a:ext cx="1376839" cy="840677"/>
            <a:chOff x="0" y="0"/>
            <a:chExt cx="1835785" cy="11209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35785" cy="1120902"/>
            </a:xfrm>
            <a:custGeom>
              <a:avLst/>
              <a:gdLst/>
              <a:ahLst/>
              <a:cxnLst/>
              <a:rect l="l" t="t" r="r" b="b"/>
              <a:pathLst>
                <a:path w="1835785" h="1120902">
                  <a:moveTo>
                    <a:pt x="0" y="0"/>
                  </a:moveTo>
                  <a:lnTo>
                    <a:pt x="1835785" y="0"/>
                  </a:lnTo>
                  <a:lnTo>
                    <a:pt x="1835785" y="1120902"/>
                  </a:lnTo>
                  <a:lnTo>
                    <a:pt x="0" y="1120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1888" b="-31888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0" y="0"/>
            <a:ext cx="2993993" cy="765238"/>
            <a:chOff x="0" y="0"/>
            <a:chExt cx="3991991" cy="10203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91991" cy="1020318"/>
            </a:xfrm>
            <a:custGeom>
              <a:avLst/>
              <a:gdLst/>
              <a:ahLst/>
              <a:cxnLst/>
              <a:rect l="l" t="t" r="r" b="b"/>
              <a:pathLst>
                <a:path w="3991991" h="1020318">
                  <a:moveTo>
                    <a:pt x="0" y="0"/>
                  </a:moveTo>
                  <a:lnTo>
                    <a:pt x="3991991" y="0"/>
                  </a:lnTo>
                  <a:lnTo>
                    <a:pt x="3991991" y="1020318"/>
                  </a:lnTo>
                  <a:lnTo>
                    <a:pt x="0" y="1020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6280" b="-628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33514" y="3228219"/>
            <a:ext cx="11315700" cy="4131374"/>
          </a:xfrm>
          <a:custGeom>
            <a:avLst/>
            <a:gdLst/>
            <a:ahLst/>
            <a:cxnLst/>
            <a:rect l="l" t="t" r="r" b="b"/>
            <a:pathLst>
              <a:path w="11315700" h="4131374">
                <a:moveTo>
                  <a:pt x="0" y="0"/>
                </a:moveTo>
                <a:lnTo>
                  <a:pt x="11315699" y="0"/>
                </a:lnTo>
                <a:lnTo>
                  <a:pt x="11315699" y="4131375"/>
                </a:lnTo>
                <a:lnTo>
                  <a:pt x="0" y="4131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89079" y="3426657"/>
            <a:ext cx="11204572" cy="3877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61720" lvl="3" indent="-265430" algn="l">
              <a:lnSpc>
                <a:spcPts val="4752"/>
              </a:lnSpc>
              <a:buFont typeface="Arial"/>
              <a:buChar char="￭"/>
            </a:pPr>
            <a:r>
              <a:rPr lang="en-US" sz="4400" b="1">
                <a:solidFill>
                  <a:srgbClr val="E46C0A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Open Jupyter E-Notebook environment</a:t>
            </a:r>
          </a:p>
          <a:p>
            <a:pPr marL="1061720" lvl="3" indent="-265430" algn="l">
              <a:lnSpc>
                <a:spcPts val="4752"/>
              </a:lnSpc>
              <a:buFont typeface="Arial"/>
              <a:buChar char="￭"/>
            </a:pPr>
            <a:r>
              <a:rPr lang="en-US" sz="4400" b="1">
                <a:solidFill>
                  <a:srgbClr val="E46C0A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No pain with setups, versions</a:t>
            </a:r>
          </a:p>
          <a:p>
            <a:pPr marL="1061720" lvl="3" indent="-265430" algn="l">
              <a:lnSpc>
                <a:spcPts val="4752"/>
              </a:lnSpc>
              <a:buFont typeface="Arial"/>
              <a:buChar char="￭"/>
            </a:pPr>
            <a:r>
              <a:rPr lang="en-US" sz="4400" b="1">
                <a:solidFill>
                  <a:srgbClr val="E46C0A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Human Machine friendly</a:t>
            </a:r>
          </a:p>
          <a:p>
            <a:pPr marL="1061720" lvl="3" indent="-265430" algn="l">
              <a:lnSpc>
                <a:spcPts val="4752"/>
              </a:lnSpc>
              <a:buFont typeface="Arial"/>
              <a:buChar char="￭"/>
            </a:pPr>
            <a:r>
              <a:rPr lang="en-US" sz="4400" b="1">
                <a:solidFill>
                  <a:srgbClr val="E46C0A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Supports interactive programming</a:t>
            </a:r>
          </a:p>
          <a:p>
            <a:pPr marL="1061720" lvl="3" indent="-265430" algn="l">
              <a:lnSpc>
                <a:spcPts val="4752"/>
              </a:lnSpc>
              <a:buFont typeface="Arial"/>
              <a:buChar char="￭"/>
            </a:pPr>
            <a:r>
              <a:rPr lang="en-US" sz="4400" b="1">
                <a:solidFill>
                  <a:srgbClr val="E46C0A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Easy learn and explore new tools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60728" y="4284583"/>
            <a:ext cx="2345564" cy="1432165"/>
            <a:chOff x="0" y="0"/>
            <a:chExt cx="1835785" cy="11209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5785" cy="1120902"/>
            </a:xfrm>
            <a:custGeom>
              <a:avLst/>
              <a:gdLst/>
              <a:ahLst/>
              <a:cxnLst/>
              <a:rect l="l" t="t" r="r" b="b"/>
              <a:pathLst>
                <a:path w="1835785" h="1120902">
                  <a:moveTo>
                    <a:pt x="0" y="0"/>
                  </a:moveTo>
                  <a:lnTo>
                    <a:pt x="1835785" y="0"/>
                  </a:lnTo>
                  <a:lnTo>
                    <a:pt x="1835785" y="1120902"/>
                  </a:lnTo>
                  <a:lnTo>
                    <a:pt x="0" y="1120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1888" b="-3188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58325" y="458018"/>
            <a:ext cx="9469839" cy="814592"/>
            <a:chOff x="0" y="0"/>
            <a:chExt cx="2494114" cy="2145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437029" y="570848"/>
            <a:ext cx="7125507" cy="561720"/>
            <a:chOff x="0" y="0"/>
            <a:chExt cx="1876677" cy="1479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76677" cy="147943"/>
            </a:xfrm>
            <a:custGeom>
              <a:avLst/>
              <a:gdLst/>
              <a:ahLst/>
              <a:cxnLst/>
              <a:rect l="l" t="t" r="r" b="b"/>
              <a:pathLst>
                <a:path w="1876677" h="147943">
                  <a:moveTo>
                    <a:pt x="73971" y="0"/>
                  </a:moveTo>
                  <a:lnTo>
                    <a:pt x="1802705" y="0"/>
                  </a:lnTo>
                  <a:cubicBezTo>
                    <a:pt x="1822324" y="0"/>
                    <a:pt x="1841139" y="7793"/>
                    <a:pt x="1855011" y="21666"/>
                  </a:cubicBezTo>
                  <a:cubicBezTo>
                    <a:pt x="1868883" y="35538"/>
                    <a:pt x="1876677" y="54353"/>
                    <a:pt x="1876677" y="73971"/>
                  </a:cubicBezTo>
                  <a:lnTo>
                    <a:pt x="1876677" y="73971"/>
                  </a:lnTo>
                  <a:cubicBezTo>
                    <a:pt x="1876677" y="114825"/>
                    <a:pt x="1843559" y="147943"/>
                    <a:pt x="1802705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876677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51215" y="675195"/>
            <a:ext cx="6457351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IMPORTANCE OF GOOGLE COLAB NOTEBOOK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4747" y="3100647"/>
            <a:ext cx="15158888" cy="4623461"/>
          </a:xfrm>
          <a:custGeom>
            <a:avLst/>
            <a:gdLst/>
            <a:ahLst/>
            <a:cxnLst/>
            <a:rect l="l" t="t" r="r" b="b"/>
            <a:pathLst>
              <a:path w="15158888" h="4623461">
                <a:moveTo>
                  <a:pt x="0" y="0"/>
                </a:moveTo>
                <a:lnTo>
                  <a:pt x="15158888" y="0"/>
                </a:lnTo>
                <a:lnTo>
                  <a:pt x="15158888" y="4623461"/>
                </a:lnTo>
                <a:lnTo>
                  <a:pt x="0" y="4623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C00000"/>
            </a:solidFill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3294846">
            <a:off x="2990195" y="2749570"/>
            <a:ext cx="884023" cy="267417"/>
          </a:xfrm>
          <a:custGeom>
            <a:avLst/>
            <a:gdLst/>
            <a:ahLst/>
            <a:cxnLst/>
            <a:rect l="l" t="t" r="r" b="b"/>
            <a:pathLst>
              <a:path w="884023" h="267417">
                <a:moveTo>
                  <a:pt x="0" y="0"/>
                </a:moveTo>
                <a:lnTo>
                  <a:pt x="884023" y="0"/>
                </a:lnTo>
                <a:lnTo>
                  <a:pt x="884023" y="267417"/>
                </a:lnTo>
                <a:lnTo>
                  <a:pt x="0" y="2674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294846">
            <a:off x="9550395" y="4364842"/>
            <a:ext cx="667967" cy="202060"/>
          </a:xfrm>
          <a:custGeom>
            <a:avLst/>
            <a:gdLst/>
            <a:ahLst/>
            <a:cxnLst/>
            <a:rect l="l" t="t" r="r" b="b"/>
            <a:pathLst>
              <a:path w="667967" h="202060">
                <a:moveTo>
                  <a:pt x="0" y="0"/>
                </a:moveTo>
                <a:lnTo>
                  <a:pt x="667967" y="0"/>
                </a:lnTo>
                <a:lnTo>
                  <a:pt x="667967" y="202060"/>
                </a:lnTo>
                <a:lnTo>
                  <a:pt x="0" y="2020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44000" y="6176096"/>
            <a:ext cx="5305571" cy="359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112" b="1">
                <a:solidFill>
                  <a:srgbClr val="63252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Text Cell: for adding documentation</a:t>
            </a:r>
          </a:p>
        </p:txBody>
      </p:sp>
      <p:sp>
        <p:nvSpPr>
          <p:cNvPr id="6" name="Freeform 6"/>
          <p:cNvSpPr/>
          <p:nvPr/>
        </p:nvSpPr>
        <p:spPr>
          <a:xfrm rot="2556734">
            <a:off x="8810016" y="5812695"/>
            <a:ext cx="667967" cy="202060"/>
          </a:xfrm>
          <a:custGeom>
            <a:avLst/>
            <a:gdLst/>
            <a:ahLst/>
            <a:cxnLst/>
            <a:rect l="l" t="t" r="r" b="b"/>
            <a:pathLst>
              <a:path w="667967" h="202060">
                <a:moveTo>
                  <a:pt x="0" y="0"/>
                </a:moveTo>
                <a:lnTo>
                  <a:pt x="667968" y="0"/>
                </a:lnTo>
                <a:lnTo>
                  <a:pt x="667968" y="202060"/>
                </a:lnTo>
                <a:lnTo>
                  <a:pt x="0" y="2020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802154" y="1740006"/>
            <a:ext cx="4149785" cy="704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5"/>
              </a:lnSpc>
            </a:pPr>
            <a:r>
              <a:rPr lang="en-US" sz="3600" b="1">
                <a:solidFill>
                  <a:srgbClr val="0C6FB6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share the notebook</a:t>
            </a:r>
          </a:p>
        </p:txBody>
      </p:sp>
      <p:sp>
        <p:nvSpPr>
          <p:cNvPr id="8" name="Freeform 8"/>
          <p:cNvSpPr/>
          <p:nvPr/>
        </p:nvSpPr>
        <p:spPr>
          <a:xfrm rot="-3294846">
            <a:off x="15435036" y="2588762"/>
            <a:ext cx="884023" cy="267417"/>
          </a:xfrm>
          <a:custGeom>
            <a:avLst/>
            <a:gdLst/>
            <a:ahLst/>
            <a:cxnLst/>
            <a:rect l="l" t="t" r="r" b="b"/>
            <a:pathLst>
              <a:path w="884023" h="267417">
                <a:moveTo>
                  <a:pt x="0" y="0"/>
                </a:moveTo>
                <a:lnTo>
                  <a:pt x="884022" y="0"/>
                </a:lnTo>
                <a:lnTo>
                  <a:pt x="884022" y="267417"/>
                </a:lnTo>
                <a:lnTo>
                  <a:pt x="0" y="2674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83634">
            <a:off x="1642715" y="6501535"/>
            <a:ext cx="2349656" cy="710771"/>
          </a:xfrm>
          <a:custGeom>
            <a:avLst/>
            <a:gdLst/>
            <a:ahLst/>
            <a:cxnLst/>
            <a:rect l="l" t="t" r="r" b="b"/>
            <a:pathLst>
              <a:path w="2349656" h="710771">
                <a:moveTo>
                  <a:pt x="0" y="0"/>
                </a:moveTo>
                <a:lnTo>
                  <a:pt x="2349656" y="0"/>
                </a:lnTo>
                <a:lnTo>
                  <a:pt x="2349656" y="710771"/>
                </a:lnTo>
                <a:lnTo>
                  <a:pt x="0" y="710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432207" y="2085013"/>
            <a:ext cx="3914093" cy="359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112" b="1">
                <a:solidFill>
                  <a:srgbClr val="20108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Title of the colab notebook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844191" y="3774788"/>
            <a:ext cx="5305571" cy="359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112" b="1">
                <a:solidFill>
                  <a:srgbClr val="A315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Code Cell: for writing code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9670" y="6336904"/>
            <a:ext cx="2441691" cy="132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4"/>
              </a:lnSpc>
            </a:pPr>
            <a:r>
              <a:rPr lang="en-US" sz="1917" b="1">
                <a:solidFill>
                  <a:srgbClr val="62134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Files: content folder for the output and all files of the </a:t>
            </a:r>
          </a:p>
          <a:p>
            <a:pPr algn="ctr">
              <a:lnSpc>
                <a:spcPts val="2684"/>
              </a:lnSpc>
            </a:pPr>
            <a:r>
              <a:rPr lang="en-US" sz="1917" b="1">
                <a:solidFill>
                  <a:srgbClr val="62134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colab notebook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82242" y="8391587"/>
            <a:ext cx="7834198" cy="1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8"/>
              </a:lnSpc>
            </a:pPr>
            <a:r>
              <a:rPr lang="en-US" sz="3600" b="1" i="1">
                <a:solidFill>
                  <a:srgbClr val="196010"/>
                </a:solidFill>
                <a:latin typeface="EB Garamond Semi-Bold Italics"/>
                <a:ea typeface="EB Garamond Semi-Bold Italics"/>
                <a:cs typeface="EB Garamond Semi-Bold Italics"/>
                <a:sym typeface="EB Garamond Semi-Bold Italics"/>
              </a:rPr>
              <a:t>Need Google account to get started!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17543" y="809625"/>
            <a:ext cx="12774868" cy="76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8"/>
              </a:lnSpc>
            </a:pPr>
            <a:r>
              <a:rPr lang="en-US" sz="3600" b="1" i="1">
                <a:solidFill>
                  <a:srgbClr val="196010"/>
                </a:solidFill>
                <a:latin typeface="EB Garamond Semi-Bold Italics"/>
                <a:ea typeface="EB Garamond Semi-Bold Italics"/>
                <a:cs typeface="EB Garamond Semi-Bold Italics"/>
                <a:sym typeface="EB Garamond Semi-Bold Italics"/>
              </a:rPr>
              <a:t>free, cloud-based platform to write and execute python-based codes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29907" y="3453172"/>
            <a:ext cx="3914093" cy="359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112" b="1">
                <a:solidFill>
                  <a:srgbClr val="7030A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Click here to run code</a:t>
            </a:r>
          </a:p>
        </p:txBody>
      </p:sp>
      <p:sp>
        <p:nvSpPr>
          <p:cNvPr id="16" name="Freeform 16"/>
          <p:cNvSpPr/>
          <p:nvPr/>
        </p:nvSpPr>
        <p:spPr>
          <a:xfrm rot="-3294846">
            <a:off x="5152965" y="4113932"/>
            <a:ext cx="873012" cy="264086"/>
          </a:xfrm>
          <a:custGeom>
            <a:avLst/>
            <a:gdLst/>
            <a:ahLst/>
            <a:cxnLst/>
            <a:rect l="l" t="t" r="r" b="b"/>
            <a:pathLst>
              <a:path w="873012" h="264086">
                <a:moveTo>
                  <a:pt x="0" y="0"/>
                </a:moveTo>
                <a:lnTo>
                  <a:pt x="873011" y="0"/>
                </a:lnTo>
                <a:lnTo>
                  <a:pt x="873011" y="264086"/>
                </a:lnTo>
                <a:lnTo>
                  <a:pt x="0" y="264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028700" y="6535812"/>
            <a:ext cx="750588" cy="367811"/>
            <a:chOff x="0" y="0"/>
            <a:chExt cx="1490472" cy="7303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90472" cy="730377"/>
            </a:xfrm>
            <a:custGeom>
              <a:avLst/>
              <a:gdLst/>
              <a:ahLst/>
              <a:cxnLst/>
              <a:rect l="l" t="t" r="r" b="b"/>
              <a:pathLst>
                <a:path w="1490472" h="730377">
                  <a:moveTo>
                    <a:pt x="0" y="0"/>
                  </a:moveTo>
                  <a:lnTo>
                    <a:pt x="1490472" y="0"/>
                  </a:lnTo>
                  <a:lnTo>
                    <a:pt x="1490472" y="730377"/>
                  </a:lnTo>
                  <a:lnTo>
                    <a:pt x="0" y="730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79" b="-380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2057283" y="2943489"/>
            <a:ext cx="1117854" cy="547783"/>
            <a:chOff x="0" y="0"/>
            <a:chExt cx="1490472" cy="73037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90472" cy="730377"/>
            </a:xfrm>
            <a:custGeom>
              <a:avLst/>
              <a:gdLst/>
              <a:ahLst/>
              <a:cxnLst/>
              <a:rect l="l" t="t" r="r" b="b"/>
              <a:pathLst>
                <a:path w="1490472" h="730377">
                  <a:moveTo>
                    <a:pt x="0" y="0"/>
                  </a:moveTo>
                  <a:lnTo>
                    <a:pt x="1490472" y="0"/>
                  </a:lnTo>
                  <a:lnTo>
                    <a:pt x="1490472" y="730377"/>
                  </a:lnTo>
                  <a:lnTo>
                    <a:pt x="0" y="730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79" b="-380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39893" y="52183"/>
            <a:ext cx="9469839" cy="814592"/>
            <a:chOff x="0" y="0"/>
            <a:chExt cx="2494114" cy="21454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318596" y="165013"/>
            <a:ext cx="7125507" cy="561720"/>
            <a:chOff x="0" y="0"/>
            <a:chExt cx="1876677" cy="1479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76677" cy="147943"/>
            </a:xfrm>
            <a:custGeom>
              <a:avLst/>
              <a:gdLst/>
              <a:ahLst/>
              <a:cxnLst/>
              <a:rect l="l" t="t" r="r" b="b"/>
              <a:pathLst>
                <a:path w="1876677" h="147943">
                  <a:moveTo>
                    <a:pt x="73971" y="0"/>
                  </a:moveTo>
                  <a:lnTo>
                    <a:pt x="1802705" y="0"/>
                  </a:lnTo>
                  <a:cubicBezTo>
                    <a:pt x="1822324" y="0"/>
                    <a:pt x="1841139" y="7793"/>
                    <a:pt x="1855011" y="21666"/>
                  </a:cubicBezTo>
                  <a:cubicBezTo>
                    <a:pt x="1868883" y="35538"/>
                    <a:pt x="1876677" y="54353"/>
                    <a:pt x="1876677" y="73971"/>
                  </a:cubicBezTo>
                  <a:lnTo>
                    <a:pt x="1876677" y="73971"/>
                  </a:lnTo>
                  <a:cubicBezTo>
                    <a:pt x="1876677" y="114825"/>
                    <a:pt x="1843559" y="147943"/>
                    <a:pt x="1802705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876677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632783" y="269360"/>
            <a:ext cx="6457351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GOOGLE COLAB (COLLABORATORY)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884378" y="165013"/>
            <a:ext cx="1018535" cy="621902"/>
            <a:chOff x="0" y="0"/>
            <a:chExt cx="1835785" cy="112090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835785" cy="1120902"/>
            </a:xfrm>
            <a:custGeom>
              <a:avLst/>
              <a:gdLst/>
              <a:ahLst/>
              <a:cxnLst/>
              <a:rect l="l" t="t" r="r" b="b"/>
              <a:pathLst>
                <a:path w="1835785" h="1120902">
                  <a:moveTo>
                    <a:pt x="0" y="0"/>
                  </a:moveTo>
                  <a:lnTo>
                    <a:pt x="1835785" y="0"/>
                  </a:lnTo>
                  <a:lnTo>
                    <a:pt x="1835785" y="1120902"/>
                  </a:lnTo>
                  <a:lnTo>
                    <a:pt x="0" y="1120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1888" b="-31888"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258183" y="2135230"/>
            <a:ext cx="2810542" cy="359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6"/>
              </a:lnSpc>
            </a:pPr>
            <a:r>
              <a:rPr lang="en-US" sz="2112" b="1">
                <a:solidFill>
                  <a:srgbClr val="ED510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Upload files/folders</a:t>
            </a:r>
          </a:p>
        </p:txBody>
      </p:sp>
      <p:sp>
        <p:nvSpPr>
          <p:cNvPr id="31" name="Freeform 31"/>
          <p:cNvSpPr/>
          <p:nvPr/>
        </p:nvSpPr>
        <p:spPr>
          <a:xfrm rot="-6491948">
            <a:off x="639752" y="3352825"/>
            <a:ext cx="2312489" cy="699528"/>
          </a:xfrm>
          <a:custGeom>
            <a:avLst/>
            <a:gdLst/>
            <a:ahLst/>
            <a:cxnLst/>
            <a:rect l="l" t="t" r="r" b="b"/>
            <a:pathLst>
              <a:path w="2312489" h="699528">
                <a:moveTo>
                  <a:pt x="0" y="0"/>
                </a:moveTo>
                <a:lnTo>
                  <a:pt x="2312489" y="0"/>
                </a:lnTo>
                <a:lnTo>
                  <a:pt x="2312489" y="699528"/>
                </a:lnTo>
                <a:lnTo>
                  <a:pt x="0" y="6995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1795997" y="4771330"/>
            <a:ext cx="791640" cy="387928"/>
            <a:chOff x="0" y="0"/>
            <a:chExt cx="1490472" cy="73037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90472" cy="730377"/>
            </a:xfrm>
            <a:custGeom>
              <a:avLst/>
              <a:gdLst/>
              <a:ahLst/>
              <a:cxnLst/>
              <a:rect l="l" t="t" r="r" b="b"/>
              <a:pathLst>
                <a:path w="1490472" h="730377">
                  <a:moveTo>
                    <a:pt x="0" y="0"/>
                  </a:moveTo>
                  <a:lnTo>
                    <a:pt x="1490472" y="0"/>
                  </a:lnTo>
                  <a:lnTo>
                    <a:pt x="1490472" y="730377"/>
                  </a:lnTo>
                  <a:lnTo>
                    <a:pt x="0" y="730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79" b="-38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4589" y="1647492"/>
            <a:ext cx="16101441" cy="7785544"/>
            <a:chOff x="0" y="0"/>
            <a:chExt cx="21468588" cy="103807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68587" cy="10380726"/>
            </a:xfrm>
            <a:custGeom>
              <a:avLst/>
              <a:gdLst/>
              <a:ahLst/>
              <a:cxnLst/>
              <a:rect l="l" t="t" r="r" b="b"/>
              <a:pathLst>
                <a:path w="21468587" h="10380726">
                  <a:moveTo>
                    <a:pt x="0" y="0"/>
                  </a:moveTo>
                  <a:lnTo>
                    <a:pt x="21468587" y="0"/>
                  </a:lnTo>
                  <a:lnTo>
                    <a:pt x="21468587" y="10380726"/>
                  </a:lnTo>
                  <a:lnTo>
                    <a:pt x="0" y="10380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670" b="-2670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410772" y="1623681"/>
            <a:ext cx="16149065" cy="7833170"/>
          </a:xfrm>
          <a:custGeom>
            <a:avLst/>
            <a:gdLst/>
            <a:ahLst/>
            <a:cxnLst/>
            <a:rect l="l" t="t" r="r" b="b"/>
            <a:pathLst>
              <a:path w="16149065" h="7833170">
                <a:moveTo>
                  <a:pt x="0" y="0"/>
                </a:moveTo>
                <a:lnTo>
                  <a:pt x="16149066" y="0"/>
                </a:lnTo>
                <a:lnTo>
                  <a:pt x="16149066" y="7833170"/>
                </a:lnTo>
                <a:lnTo>
                  <a:pt x="0" y="78331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9893" y="52183"/>
            <a:ext cx="9469839" cy="814592"/>
            <a:chOff x="0" y="0"/>
            <a:chExt cx="2494114" cy="214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18596" y="165013"/>
            <a:ext cx="7125507" cy="561720"/>
            <a:chOff x="0" y="0"/>
            <a:chExt cx="1876677" cy="1479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76677" cy="147943"/>
            </a:xfrm>
            <a:custGeom>
              <a:avLst/>
              <a:gdLst/>
              <a:ahLst/>
              <a:cxnLst/>
              <a:rect l="l" t="t" r="r" b="b"/>
              <a:pathLst>
                <a:path w="1876677" h="147943">
                  <a:moveTo>
                    <a:pt x="73971" y="0"/>
                  </a:moveTo>
                  <a:lnTo>
                    <a:pt x="1802705" y="0"/>
                  </a:lnTo>
                  <a:cubicBezTo>
                    <a:pt x="1822324" y="0"/>
                    <a:pt x="1841139" y="7793"/>
                    <a:pt x="1855011" y="21666"/>
                  </a:cubicBezTo>
                  <a:cubicBezTo>
                    <a:pt x="1868883" y="35538"/>
                    <a:pt x="1876677" y="54353"/>
                    <a:pt x="1876677" y="73971"/>
                  </a:cubicBezTo>
                  <a:lnTo>
                    <a:pt x="1876677" y="73971"/>
                  </a:lnTo>
                  <a:cubicBezTo>
                    <a:pt x="1876677" y="114825"/>
                    <a:pt x="1843559" y="147943"/>
                    <a:pt x="1802705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76677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32783" y="269360"/>
            <a:ext cx="6457351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GOOGLE COLAB (COLLABORATORY)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884378" y="165013"/>
            <a:ext cx="1018535" cy="621902"/>
            <a:chOff x="0" y="0"/>
            <a:chExt cx="1835785" cy="11209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35785" cy="1120902"/>
            </a:xfrm>
            <a:custGeom>
              <a:avLst/>
              <a:gdLst/>
              <a:ahLst/>
              <a:cxnLst/>
              <a:rect l="l" t="t" r="r" b="b"/>
              <a:pathLst>
                <a:path w="1835785" h="1120902">
                  <a:moveTo>
                    <a:pt x="0" y="0"/>
                  </a:moveTo>
                  <a:lnTo>
                    <a:pt x="1835785" y="0"/>
                  </a:lnTo>
                  <a:lnTo>
                    <a:pt x="1835785" y="1120902"/>
                  </a:lnTo>
                  <a:lnTo>
                    <a:pt x="0" y="1120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1888" b="-31888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03059" y="3084528"/>
            <a:ext cx="7440358" cy="5600033"/>
            <a:chOff x="0" y="0"/>
            <a:chExt cx="9920478" cy="74667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20478" cy="7466711"/>
            </a:xfrm>
            <a:custGeom>
              <a:avLst/>
              <a:gdLst/>
              <a:ahLst/>
              <a:cxnLst/>
              <a:rect l="l" t="t" r="r" b="b"/>
              <a:pathLst>
                <a:path w="9920478" h="7466711">
                  <a:moveTo>
                    <a:pt x="0" y="0"/>
                  </a:moveTo>
                  <a:lnTo>
                    <a:pt x="9920478" y="0"/>
                  </a:lnTo>
                  <a:lnTo>
                    <a:pt x="9920478" y="7466711"/>
                  </a:lnTo>
                  <a:lnTo>
                    <a:pt x="0" y="746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141569" y="96012"/>
            <a:ext cx="2993993" cy="765238"/>
            <a:chOff x="0" y="0"/>
            <a:chExt cx="3991991" cy="102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91991" cy="1020318"/>
            </a:xfrm>
            <a:custGeom>
              <a:avLst/>
              <a:gdLst/>
              <a:ahLst/>
              <a:cxnLst/>
              <a:rect l="l" t="t" r="r" b="b"/>
              <a:pathLst>
                <a:path w="3991991" h="1020318">
                  <a:moveTo>
                    <a:pt x="0" y="0"/>
                  </a:moveTo>
                  <a:lnTo>
                    <a:pt x="3991991" y="0"/>
                  </a:lnTo>
                  <a:lnTo>
                    <a:pt x="3991991" y="1020318"/>
                  </a:lnTo>
                  <a:lnTo>
                    <a:pt x="0" y="1020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280" b="-62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52068" y="2184673"/>
            <a:ext cx="7951756" cy="7126700"/>
            <a:chOff x="0" y="0"/>
            <a:chExt cx="10602341" cy="95022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02341" cy="9502267"/>
            </a:xfrm>
            <a:custGeom>
              <a:avLst/>
              <a:gdLst/>
              <a:ahLst/>
              <a:cxnLst/>
              <a:rect l="l" t="t" r="r" b="b"/>
              <a:pathLst>
                <a:path w="10602341" h="9502267">
                  <a:moveTo>
                    <a:pt x="0" y="0"/>
                  </a:moveTo>
                  <a:lnTo>
                    <a:pt x="10602341" y="0"/>
                  </a:lnTo>
                  <a:lnTo>
                    <a:pt x="10602341" y="9502267"/>
                  </a:lnTo>
                  <a:lnTo>
                    <a:pt x="0" y="9502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" r="-1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6526573" y="6019517"/>
            <a:ext cx="5834478" cy="1164561"/>
          </a:xfrm>
          <a:custGeom>
            <a:avLst/>
            <a:gdLst/>
            <a:ahLst/>
            <a:cxnLst/>
            <a:rect l="l" t="t" r="r" b="b"/>
            <a:pathLst>
              <a:path w="5834478" h="1164561">
                <a:moveTo>
                  <a:pt x="0" y="0"/>
                </a:moveTo>
                <a:lnTo>
                  <a:pt x="5834479" y="0"/>
                </a:lnTo>
                <a:lnTo>
                  <a:pt x="5834479" y="1164561"/>
                </a:lnTo>
                <a:lnTo>
                  <a:pt x="0" y="1164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988594" y="1965598"/>
            <a:ext cx="2769260" cy="170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64"/>
              </a:lnSpc>
            </a:pPr>
            <a:r>
              <a:rPr lang="en-US" sz="4800" b="1">
                <a:solidFill>
                  <a:srgbClr val="152225"/>
                </a:solidFill>
                <a:latin typeface="EB Garamond Semi-Bold"/>
                <a:ea typeface="EB Garamond Semi-Bold"/>
                <a:cs typeface="EB Garamond Semi-Bold"/>
                <a:sym typeface="EB Garamond Semi-Bold"/>
              </a:rPr>
              <a:t>T4 GPU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9893" y="52183"/>
            <a:ext cx="9469839" cy="814592"/>
            <a:chOff x="0" y="0"/>
            <a:chExt cx="2494114" cy="2145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94114" cy="214543"/>
            </a:xfrm>
            <a:custGeom>
              <a:avLst/>
              <a:gdLst/>
              <a:ahLst/>
              <a:cxnLst/>
              <a:rect l="l" t="t" r="r" b="b"/>
              <a:pathLst>
                <a:path w="2494114" h="214543">
                  <a:moveTo>
                    <a:pt x="81753" y="0"/>
                  </a:moveTo>
                  <a:lnTo>
                    <a:pt x="2412360" y="0"/>
                  </a:lnTo>
                  <a:cubicBezTo>
                    <a:pt x="2457512" y="0"/>
                    <a:pt x="2494114" y="36602"/>
                    <a:pt x="2494114" y="81753"/>
                  </a:cubicBezTo>
                  <a:lnTo>
                    <a:pt x="2494114" y="132789"/>
                  </a:lnTo>
                  <a:cubicBezTo>
                    <a:pt x="2494114" y="177940"/>
                    <a:pt x="2457512" y="214543"/>
                    <a:pt x="2412360" y="214543"/>
                  </a:cubicBezTo>
                  <a:lnTo>
                    <a:pt x="81753" y="214543"/>
                  </a:lnTo>
                  <a:cubicBezTo>
                    <a:pt x="36602" y="214543"/>
                    <a:pt x="0" y="177940"/>
                    <a:pt x="0" y="132789"/>
                  </a:cubicBezTo>
                  <a:lnTo>
                    <a:pt x="0" y="81753"/>
                  </a:lnTo>
                  <a:cubicBezTo>
                    <a:pt x="0" y="36602"/>
                    <a:pt x="36602" y="0"/>
                    <a:pt x="817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494114" cy="252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09057" y="165013"/>
            <a:ext cx="7635046" cy="561720"/>
            <a:chOff x="0" y="0"/>
            <a:chExt cx="2010876" cy="14794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10876" cy="147943"/>
            </a:xfrm>
            <a:custGeom>
              <a:avLst/>
              <a:gdLst/>
              <a:ahLst/>
              <a:cxnLst/>
              <a:rect l="l" t="t" r="r" b="b"/>
              <a:pathLst>
                <a:path w="2010876" h="147943">
                  <a:moveTo>
                    <a:pt x="73971" y="0"/>
                  </a:moveTo>
                  <a:lnTo>
                    <a:pt x="1936905" y="0"/>
                  </a:lnTo>
                  <a:cubicBezTo>
                    <a:pt x="1956523" y="0"/>
                    <a:pt x="1975338" y="7793"/>
                    <a:pt x="1989211" y="21666"/>
                  </a:cubicBezTo>
                  <a:cubicBezTo>
                    <a:pt x="2003083" y="35538"/>
                    <a:pt x="2010876" y="54353"/>
                    <a:pt x="2010876" y="73971"/>
                  </a:cubicBezTo>
                  <a:lnTo>
                    <a:pt x="2010876" y="73971"/>
                  </a:lnTo>
                  <a:cubicBezTo>
                    <a:pt x="2010876" y="114825"/>
                    <a:pt x="1977758" y="147943"/>
                    <a:pt x="1936905" y="147943"/>
                  </a:cubicBezTo>
                  <a:lnTo>
                    <a:pt x="73971" y="147943"/>
                  </a:lnTo>
                  <a:cubicBezTo>
                    <a:pt x="54353" y="147943"/>
                    <a:pt x="35538" y="140149"/>
                    <a:pt x="21666" y="126277"/>
                  </a:cubicBezTo>
                  <a:cubicBezTo>
                    <a:pt x="7793" y="112405"/>
                    <a:pt x="0" y="93590"/>
                    <a:pt x="0" y="73971"/>
                  </a:cubicBezTo>
                  <a:lnTo>
                    <a:pt x="0" y="73971"/>
                  </a:lnTo>
                  <a:cubicBezTo>
                    <a:pt x="0" y="54353"/>
                    <a:pt x="7793" y="35538"/>
                    <a:pt x="21666" y="21666"/>
                  </a:cubicBezTo>
                  <a:cubicBezTo>
                    <a:pt x="35538" y="7793"/>
                    <a:pt x="54353" y="0"/>
                    <a:pt x="73971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010876" cy="18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809057" y="269360"/>
            <a:ext cx="7634756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1F1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CHANGE RUNTIME FOR MORE MEMORY REQUIREMENT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884378" y="165013"/>
            <a:ext cx="1018535" cy="621902"/>
            <a:chOff x="0" y="0"/>
            <a:chExt cx="1835785" cy="112090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35785" cy="1120902"/>
            </a:xfrm>
            <a:custGeom>
              <a:avLst/>
              <a:gdLst/>
              <a:ahLst/>
              <a:cxnLst/>
              <a:rect l="l" t="t" r="r" b="b"/>
              <a:pathLst>
                <a:path w="1835785" h="1120902">
                  <a:moveTo>
                    <a:pt x="0" y="0"/>
                  </a:moveTo>
                  <a:lnTo>
                    <a:pt x="1835785" y="0"/>
                  </a:lnTo>
                  <a:lnTo>
                    <a:pt x="1835785" y="1120902"/>
                  </a:lnTo>
                  <a:lnTo>
                    <a:pt x="0" y="1120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1888" b="-31888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88301" y="296760"/>
            <a:ext cx="7047156" cy="6254075"/>
            <a:chOff x="0" y="0"/>
            <a:chExt cx="1856041" cy="16471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56041" cy="1647164"/>
            </a:xfrm>
            <a:custGeom>
              <a:avLst/>
              <a:gdLst/>
              <a:ahLst/>
              <a:cxnLst/>
              <a:rect l="l" t="t" r="r" b="b"/>
              <a:pathLst>
                <a:path w="1856041" h="1647164">
                  <a:moveTo>
                    <a:pt x="56028" y="0"/>
                  </a:moveTo>
                  <a:lnTo>
                    <a:pt x="1800013" y="0"/>
                  </a:lnTo>
                  <a:cubicBezTo>
                    <a:pt x="1830957" y="0"/>
                    <a:pt x="1856041" y="25085"/>
                    <a:pt x="1856041" y="56028"/>
                  </a:cubicBezTo>
                  <a:lnTo>
                    <a:pt x="1856041" y="1591136"/>
                  </a:lnTo>
                  <a:cubicBezTo>
                    <a:pt x="1856041" y="1605995"/>
                    <a:pt x="1850138" y="1620246"/>
                    <a:pt x="1839631" y="1630754"/>
                  </a:cubicBezTo>
                  <a:cubicBezTo>
                    <a:pt x="1829124" y="1641261"/>
                    <a:pt x="1814873" y="1647164"/>
                    <a:pt x="1800013" y="1647164"/>
                  </a:cubicBezTo>
                  <a:lnTo>
                    <a:pt x="56028" y="1647164"/>
                  </a:lnTo>
                  <a:cubicBezTo>
                    <a:pt x="41168" y="1647164"/>
                    <a:pt x="26918" y="1641261"/>
                    <a:pt x="16410" y="1630754"/>
                  </a:cubicBezTo>
                  <a:cubicBezTo>
                    <a:pt x="5903" y="1620246"/>
                    <a:pt x="0" y="1605995"/>
                    <a:pt x="0" y="1591136"/>
                  </a:cubicBezTo>
                  <a:lnTo>
                    <a:pt x="0" y="56028"/>
                  </a:lnTo>
                  <a:cubicBezTo>
                    <a:pt x="0" y="41168"/>
                    <a:pt x="5903" y="26918"/>
                    <a:pt x="16410" y="16410"/>
                  </a:cubicBezTo>
                  <a:cubicBezTo>
                    <a:pt x="26918" y="5903"/>
                    <a:pt x="41168" y="0"/>
                    <a:pt x="56028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56041" cy="1685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892812" y="2022219"/>
            <a:ext cx="2160637" cy="2160637"/>
          </a:xfrm>
          <a:custGeom>
            <a:avLst/>
            <a:gdLst/>
            <a:ahLst/>
            <a:cxnLst/>
            <a:rect l="l" t="t" r="r" b="b"/>
            <a:pathLst>
              <a:path w="2160637" h="2160637">
                <a:moveTo>
                  <a:pt x="0" y="0"/>
                </a:moveTo>
                <a:lnTo>
                  <a:pt x="2160636" y="0"/>
                </a:lnTo>
                <a:lnTo>
                  <a:pt x="2160636" y="2160637"/>
                </a:lnTo>
                <a:lnTo>
                  <a:pt x="0" y="21606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053448" y="3618665"/>
            <a:ext cx="9682971" cy="3956836"/>
            <a:chOff x="0" y="0"/>
            <a:chExt cx="2550247" cy="10421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50247" cy="1042130"/>
            </a:xfrm>
            <a:custGeom>
              <a:avLst/>
              <a:gdLst/>
              <a:ahLst/>
              <a:cxnLst/>
              <a:rect l="l" t="t" r="r" b="b"/>
              <a:pathLst>
                <a:path w="2550247" h="1042130">
                  <a:moveTo>
                    <a:pt x="40777" y="0"/>
                  </a:moveTo>
                  <a:lnTo>
                    <a:pt x="2509471" y="0"/>
                  </a:lnTo>
                  <a:cubicBezTo>
                    <a:pt x="2520286" y="0"/>
                    <a:pt x="2530657" y="4296"/>
                    <a:pt x="2538304" y="11943"/>
                  </a:cubicBezTo>
                  <a:cubicBezTo>
                    <a:pt x="2545951" y="19590"/>
                    <a:pt x="2550247" y="29962"/>
                    <a:pt x="2550247" y="40777"/>
                  </a:cubicBezTo>
                  <a:lnTo>
                    <a:pt x="2550247" y="1001353"/>
                  </a:lnTo>
                  <a:cubicBezTo>
                    <a:pt x="2550247" y="1012168"/>
                    <a:pt x="2545951" y="1022539"/>
                    <a:pt x="2538304" y="1030187"/>
                  </a:cubicBezTo>
                  <a:cubicBezTo>
                    <a:pt x="2530657" y="1037834"/>
                    <a:pt x="2520286" y="1042130"/>
                    <a:pt x="2509471" y="1042130"/>
                  </a:cubicBezTo>
                  <a:lnTo>
                    <a:pt x="40777" y="1042130"/>
                  </a:lnTo>
                  <a:cubicBezTo>
                    <a:pt x="29962" y="1042130"/>
                    <a:pt x="19590" y="1037834"/>
                    <a:pt x="11943" y="1030187"/>
                  </a:cubicBezTo>
                  <a:cubicBezTo>
                    <a:pt x="4296" y="1022539"/>
                    <a:pt x="0" y="1012168"/>
                    <a:pt x="0" y="1001353"/>
                  </a:cubicBezTo>
                  <a:lnTo>
                    <a:pt x="0" y="40777"/>
                  </a:lnTo>
                  <a:cubicBezTo>
                    <a:pt x="0" y="29962"/>
                    <a:pt x="4296" y="19590"/>
                    <a:pt x="11943" y="11943"/>
                  </a:cubicBezTo>
                  <a:cubicBezTo>
                    <a:pt x="19590" y="4296"/>
                    <a:pt x="29962" y="0"/>
                    <a:pt x="407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550247" cy="1080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657046" y="6199290"/>
            <a:ext cx="1602254" cy="1602254"/>
          </a:xfrm>
          <a:custGeom>
            <a:avLst/>
            <a:gdLst/>
            <a:ahLst/>
            <a:cxnLst/>
            <a:rect l="l" t="t" r="r" b="b"/>
            <a:pathLst>
              <a:path w="1602254" h="1602254">
                <a:moveTo>
                  <a:pt x="0" y="0"/>
                </a:moveTo>
                <a:lnTo>
                  <a:pt x="1602254" y="0"/>
                </a:lnTo>
                <a:lnTo>
                  <a:pt x="1602254" y="1602254"/>
                </a:lnTo>
                <a:lnTo>
                  <a:pt x="0" y="1602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300654" y="4225638"/>
            <a:ext cx="1843346" cy="184334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t="-11853" b="-11853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0382250" y="4225638"/>
            <a:ext cx="1843346" cy="184334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16445" r="-16445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411268" y="4225638"/>
            <a:ext cx="1843346" cy="184334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t="-3475" b="-3475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7713810" y="2591568"/>
            <a:ext cx="9388534" cy="832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45"/>
              </a:lnSpc>
            </a:pPr>
            <a:r>
              <a:rPr lang="en-US" sz="6827" b="1" spc="-396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Hands-on Session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88567" y="6171651"/>
            <a:ext cx="2692201" cy="1238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7"/>
              </a:lnSpc>
            </a:pPr>
            <a:r>
              <a:rPr lang="en-US" sz="2244" b="1" spc="-159">
                <a:solidFill>
                  <a:srgbClr val="0C6F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Dr. Renu Kumari (Program Manager, semanticClimate)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-118664" y="7170291"/>
            <a:ext cx="6949062" cy="748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89"/>
              </a:lnSpc>
            </a:pPr>
            <a:r>
              <a:rPr lang="en-US" sz="4349" b="1" dirty="0">
                <a:solidFill>
                  <a:srgbClr val="002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Link to Colab Notebook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4897" y="8144444"/>
            <a:ext cx="1827959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u="sng">
                <a:solidFill>
                  <a:srgbClr val="A31515"/>
                </a:solidFill>
                <a:latin typeface="Arimo Bold"/>
                <a:ea typeface="Arimo Bold"/>
                <a:cs typeface="Arimo Bold"/>
                <a:sym typeface="Arimo Bold"/>
                <a:hlinkClick r:id="rId11" tooltip="https://colab.research.google.com/drive/1acnaYZ-aAhNYiRDK0pGfMCLCpvNPjoAb?usp=sharing"/>
              </a:rPr>
              <a:t>https://colab.research.google.com/drive/1acnaYZ-aAhNYiRDK0pGfMCLCpvNPjoAb?usp=sharing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46101" y="3568932"/>
            <a:ext cx="3848042" cy="466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8"/>
              </a:lnSpc>
            </a:pPr>
            <a:r>
              <a:rPr lang="en-US" sz="2748" b="1">
                <a:solidFill>
                  <a:srgbClr val="D40B8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Instructors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28976" y="6192808"/>
            <a:ext cx="3082292" cy="819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7"/>
              </a:lnSpc>
            </a:pPr>
            <a:r>
              <a:rPr lang="en-US" sz="2244" b="1" spc="-159">
                <a:solidFill>
                  <a:srgbClr val="0C6F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Mr. Mandeep </a:t>
            </a:r>
          </a:p>
          <a:p>
            <a:pPr algn="l">
              <a:lnSpc>
                <a:spcPts val="3367"/>
              </a:lnSpc>
            </a:pPr>
            <a:r>
              <a:rPr lang="en-US" sz="2244" b="1" spc="-159">
                <a:solidFill>
                  <a:srgbClr val="0C6F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(Ph.D. Student, NIPGR)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13468" y="6181074"/>
            <a:ext cx="3082292" cy="819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7"/>
              </a:lnSpc>
            </a:pPr>
            <a:r>
              <a:rPr lang="en-US" sz="2244" b="1" spc="-159">
                <a:solidFill>
                  <a:srgbClr val="0C6F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Ms. Priti</a:t>
            </a:r>
          </a:p>
          <a:p>
            <a:pPr algn="l">
              <a:lnSpc>
                <a:spcPts val="3367"/>
              </a:lnSpc>
            </a:pPr>
            <a:r>
              <a:rPr lang="en-US" sz="2244" b="1" spc="-159">
                <a:solidFill>
                  <a:srgbClr val="0C6FB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(Ph.D. Student, NIPGR)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36419" y="677760"/>
            <a:ext cx="522881" cy="443415"/>
          </a:xfrm>
          <a:custGeom>
            <a:avLst/>
            <a:gdLst/>
            <a:ahLst/>
            <a:cxnLst/>
            <a:rect l="l" t="t" r="r" b="b"/>
            <a:pathLst>
              <a:path w="522881" h="443415">
                <a:moveTo>
                  <a:pt x="0" y="0"/>
                </a:moveTo>
                <a:lnTo>
                  <a:pt x="522881" y="0"/>
                </a:lnTo>
                <a:lnTo>
                  <a:pt x="522881" y="443415"/>
                </a:lnTo>
                <a:lnTo>
                  <a:pt x="0" y="44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62406" r="-30896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492906" y="1840347"/>
            <a:ext cx="1766394" cy="17663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2407605"/>
            <a:ext cx="1242244" cy="1658460"/>
          </a:xfrm>
          <a:custGeom>
            <a:avLst/>
            <a:gdLst/>
            <a:ahLst/>
            <a:cxnLst/>
            <a:rect l="l" t="t" r="r" b="b"/>
            <a:pathLst>
              <a:path w="1242244" h="1658460">
                <a:moveTo>
                  <a:pt x="0" y="0"/>
                </a:moveTo>
                <a:lnTo>
                  <a:pt x="1242244" y="0"/>
                </a:lnTo>
                <a:lnTo>
                  <a:pt x="1242244" y="1658460"/>
                </a:lnTo>
                <a:lnTo>
                  <a:pt x="0" y="165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892774" y="2519494"/>
            <a:ext cx="10395226" cy="7449912"/>
          </a:xfrm>
          <a:custGeom>
            <a:avLst/>
            <a:gdLst/>
            <a:ahLst/>
            <a:cxnLst/>
            <a:rect l="l" t="t" r="r" b="b"/>
            <a:pathLst>
              <a:path w="10395226" h="7449912">
                <a:moveTo>
                  <a:pt x="0" y="0"/>
                </a:moveTo>
                <a:lnTo>
                  <a:pt x="10395226" y="0"/>
                </a:lnTo>
                <a:lnTo>
                  <a:pt x="10395226" y="7449912"/>
                </a:lnTo>
                <a:lnTo>
                  <a:pt x="0" y="7449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385681" y="2706401"/>
            <a:ext cx="2597952" cy="967015"/>
          </a:xfrm>
          <a:custGeom>
            <a:avLst/>
            <a:gdLst/>
            <a:ahLst/>
            <a:cxnLst/>
            <a:rect l="l" t="t" r="r" b="b"/>
            <a:pathLst>
              <a:path w="2597952" h="967015">
                <a:moveTo>
                  <a:pt x="0" y="0"/>
                </a:moveTo>
                <a:lnTo>
                  <a:pt x="2597952" y="0"/>
                </a:lnTo>
                <a:lnTo>
                  <a:pt x="2597952" y="967015"/>
                </a:lnTo>
                <a:lnTo>
                  <a:pt x="0" y="9670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809827" y="2530050"/>
            <a:ext cx="4032930" cy="1160509"/>
          </a:xfrm>
          <a:custGeom>
            <a:avLst/>
            <a:gdLst/>
            <a:ahLst/>
            <a:cxnLst/>
            <a:rect l="l" t="t" r="r" b="b"/>
            <a:pathLst>
              <a:path w="4032930" h="1160509">
                <a:moveTo>
                  <a:pt x="0" y="0"/>
                </a:moveTo>
                <a:lnTo>
                  <a:pt x="4032929" y="0"/>
                </a:lnTo>
                <a:lnTo>
                  <a:pt x="4032929" y="1160509"/>
                </a:lnTo>
                <a:lnTo>
                  <a:pt x="0" y="11605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0894" y="6782743"/>
            <a:ext cx="2293001" cy="629536"/>
          </a:xfrm>
          <a:custGeom>
            <a:avLst/>
            <a:gdLst/>
            <a:ahLst/>
            <a:cxnLst/>
            <a:rect l="l" t="t" r="r" b="b"/>
            <a:pathLst>
              <a:path w="2293001" h="629536">
                <a:moveTo>
                  <a:pt x="0" y="0"/>
                </a:moveTo>
                <a:lnTo>
                  <a:pt x="2293001" y="0"/>
                </a:lnTo>
                <a:lnTo>
                  <a:pt x="2293001" y="629536"/>
                </a:lnTo>
                <a:lnTo>
                  <a:pt x="0" y="6295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630" b="-629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156994" y="4066065"/>
            <a:ext cx="2183228" cy="959741"/>
          </a:xfrm>
          <a:custGeom>
            <a:avLst/>
            <a:gdLst/>
            <a:ahLst/>
            <a:cxnLst/>
            <a:rect l="l" t="t" r="r" b="b"/>
            <a:pathLst>
              <a:path w="2183228" h="959741">
                <a:moveTo>
                  <a:pt x="0" y="0"/>
                </a:moveTo>
                <a:lnTo>
                  <a:pt x="2183228" y="0"/>
                </a:lnTo>
                <a:lnTo>
                  <a:pt x="2183228" y="959741"/>
                </a:lnTo>
                <a:lnTo>
                  <a:pt x="0" y="9597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-17877" y="4228754"/>
            <a:ext cx="3924955" cy="66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BIOINFORMATICS INFRASTRUCTURE FACILITY (BIF-DBT SPONSORED)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57155" y="2340930"/>
            <a:ext cx="2300350" cy="122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8"/>
              </a:lnSpc>
            </a:pPr>
            <a:r>
              <a:rPr lang="en-US" sz="7198">
                <a:solidFill>
                  <a:srgbClr val="00B0F0"/>
                </a:solidFill>
                <a:latin typeface="Comic Sans"/>
                <a:ea typeface="Comic Sans"/>
                <a:cs typeface="Comic Sans"/>
                <a:sym typeface="Comic Sans"/>
              </a:rPr>
              <a:t>Team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07078" y="1614916"/>
            <a:ext cx="10068336" cy="57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0"/>
              </a:lnSpc>
              <a:spcBef>
                <a:spcPct val="0"/>
              </a:spcBef>
            </a:pPr>
            <a:r>
              <a:rPr lang="en-US" sz="3350" b="1" spc="6">
                <a:solidFill>
                  <a:srgbClr val="D146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—THANK YOU FOR LEARNING WITH US!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7354" y="463897"/>
            <a:ext cx="13062617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6000" b="1" spc="-89">
                <a:solidFill>
                  <a:srgbClr val="00206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“From Papers to Knowledge Graphs”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894" y="7540704"/>
            <a:ext cx="2149545" cy="517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B0F0"/>
                </a:solidFill>
                <a:latin typeface="Garet Bold"/>
                <a:ea typeface="Garet Bold"/>
                <a:cs typeface="Garet Bold"/>
                <a:sym typeface="Garet Bold"/>
              </a:rPr>
              <a:t>E-mail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23456" y="7507529"/>
            <a:ext cx="5516766" cy="517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632523"/>
                </a:solidFill>
                <a:latin typeface="Garet"/>
                <a:ea typeface="Garet"/>
                <a:cs typeface="Garet"/>
                <a:sym typeface="Garet"/>
              </a:rPr>
              <a:t>semanticclimate@gmail.com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894" y="8145056"/>
            <a:ext cx="2149545" cy="517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B0F0"/>
                </a:solidFill>
                <a:latin typeface="Garet Bold"/>
                <a:ea typeface="Garet Bold"/>
                <a:cs typeface="Garet Bold"/>
                <a:sym typeface="Garet Bold"/>
              </a:rPr>
              <a:t>Website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894" y="9331328"/>
            <a:ext cx="3711683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u="sng" dirty="0">
                <a:solidFill>
                  <a:srgbClr val="00B0F0"/>
                </a:solidFill>
                <a:latin typeface="Garet Bold"/>
                <a:ea typeface="Garet Bold"/>
                <a:cs typeface="Garet Bold"/>
                <a:sym typeface="Garet Bold"/>
                <a:hlinkClick r:id="rId11" tooltip="https://twitter.com/semanticClim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 (Formerly Twitter</a:t>
            </a:r>
            <a:r>
              <a:rPr lang="en-US" sz="2499" dirty="0">
                <a:solidFill>
                  <a:srgbClr val="00B0F0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852577" y="9331328"/>
            <a:ext cx="5516766" cy="955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632523"/>
                </a:solidFill>
                <a:latin typeface="Garet"/>
                <a:ea typeface="Garet"/>
                <a:cs typeface="Garet"/>
                <a:sym typeface="Garet"/>
              </a:rPr>
              <a:t>#semanticClimate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632523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823456" y="8145056"/>
            <a:ext cx="7015744" cy="52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u="sng">
                <a:solidFill>
                  <a:srgbClr val="0000FF"/>
                </a:solidFill>
                <a:latin typeface="Garet"/>
                <a:ea typeface="Garet"/>
                <a:cs typeface="Garet"/>
                <a:sym typeface="Garet"/>
                <a:hlinkClick r:id="rId12" tooltip="https://semanticclimate.github.io/p/en/"/>
              </a:rPr>
              <a:t>https://semanticclimate.github.io/p/en/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894" y="8757837"/>
            <a:ext cx="2149545" cy="517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B0F0"/>
                </a:solidFill>
                <a:latin typeface="Garet Bold"/>
                <a:ea typeface="Garet Bold"/>
                <a:cs typeface="Garet Bold"/>
                <a:sym typeface="Garet Bold"/>
              </a:rPr>
              <a:t>GitHub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16875" y="8748312"/>
            <a:ext cx="6488925" cy="1038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u="sng" dirty="0">
                <a:solidFill>
                  <a:srgbClr val="0000FF"/>
                </a:solidFill>
                <a:latin typeface="Garet"/>
                <a:ea typeface="Garet"/>
                <a:cs typeface="Garet"/>
                <a:sym typeface="Garet"/>
                <a:hlinkClick r:id="rId13" tooltip="https://github.com/semanticClimate"/>
              </a:rPr>
              <a:t>https://github.com/semanticClimate</a:t>
            </a:r>
          </a:p>
          <a:p>
            <a:pPr algn="ctr">
              <a:lnSpc>
                <a:spcPts val="6247"/>
              </a:lnSpc>
            </a:pPr>
            <a:endParaRPr lang="en-US" sz="2499" u="sng" dirty="0">
              <a:solidFill>
                <a:srgbClr val="0000FF"/>
              </a:solidFill>
              <a:latin typeface="Garet"/>
              <a:ea typeface="Garet"/>
              <a:cs typeface="Garet"/>
              <a:sym typeface="Garet"/>
              <a:hlinkClick r:id="rId13" tooltip="https://github.com/semanticClimat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782</Words>
  <Application>Microsoft Office PowerPoint</Application>
  <PresentationFormat>Custom</PresentationFormat>
  <Paragraphs>188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41" baseType="lpstr">
      <vt:lpstr>EB Garamond Semi-Bold Italics</vt:lpstr>
      <vt:lpstr>EB Garamond Semi-Bold</vt:lpstr>
      <vt:lpstr>Canva Sans Bold</vt:lpstr>
      <vt:lpstr>Calibri (MS) Bold Italics</vt:lpstr>
      <vt:lpstr>Playfair Display Bold</vt:lpstr>
      <vt:lpstr>Comic Sans</vt:lpstr>
      <vt:lpstr>Comic Sans Bold</vt:lpstr>
      <vt:lpstr>Canva Sans</vt:lpstr>
      <vt:lpstr>Arial</vt:lpstr>
      <vt:lpstr>Clear Sans Bold</vt:lpstr>
      <vt:lpstr>Arimo Bold</vt:lpstr>
      <vt:lpstr>Calibri</vt:lpstr>
      <vt:lpstr>Calibri (MS)</vt:lpstr>
      <vt:lpstr>Poppins Bold</vt:lpstr>
      <vt:lpstr>Calibri (MS) Bold</vt:lpstr>
      <vt:lpstr>Canva Sans Bold Italics</vt:lpstr>
      <vt:lpstr>Garet</vt:lpstr>
      <vt:lpstr>Clear Sans</vt:lpstr>
      <vt:lpstr>Garet Bold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workshop_ACBR16Jan</dc:title>
  <cp:lastModifiedBy>nipgr nipgr</cp:lastModifiedBy>
  <cp:revision>3</cp:revision>
  <dcterms:created xsi:type="dcterms:W3CDTF">2006-08-16T00:00:00Z</dcterms:created>
  <dcterms:modified xsi:type="dcterms:W3CDTF">2026-01-15T11:32:19Z</dcterms:modified>
  <dc:identifier>DAG-Sxhzl14</dc:identifier>
</cp:coreProperties>
</file>